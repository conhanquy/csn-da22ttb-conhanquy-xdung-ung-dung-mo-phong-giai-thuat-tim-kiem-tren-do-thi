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90" r:id="rId7"/>
    <p:sldId id="261" r:id="rId8"/>
    <p:sldId id="291" r:id="rId9"/>
    <p:sldId id="292" r:id="rId10"/>
    <p:sldId id="264" r:id="rId11"/>
    <p:sldId id="293" r:id="rId12"/>
    <p:sldId id="295" r:id="rId13"/>
    <p:sldId id="296" r:id="rId14"/>
    <p:sldId id="297" r:id="rId15"/>
    <p:sldId id="298" r:id="rId16"/>
    <p:sldId id="286" r:id="rId17"/>
    <p:sldId id="289" r:id="rId18"/>
  </p:sldIdLst>
  <p:sldSz cx="18288000" cy="10287000"/>
  <p:notesSz cx="6858000" cy="9144000"/>
  <p:embeddedFontLst>
    <p:embeddedFont>
      <p:font typeface="Muli Bold" panose="020B0604020202020204" charset="0"/>
      <p:regular r:id="rId19"/>
    </p:embeddedFont>
    <p:embeddedFont>
      <p:font typeface="Arial" panose="020B0604020202020204" pitchFamily="34" charset="0"/>
      <p:regular r:id="rId20"/>
    </p:embeddedFont>
    <p:embeddedFont>
      <p:font typeface="Muli" panose="020B0604020202020204" charset="0"/>
      <p:regular r:id="rId21"/>
    </p:embeddedFont>
    <p:embeddedFont>
      <p:font typeface="Arial Bold" panose="020B0704020202020204" pitchFamily="34" charset="0"/>
      <p:regular r:id="rId22"/>
      <p:bold r:id="rId23"/>
    </p:embeddedFont>
    <p:embeddedFont>
      <p:font typeface="Asap" panose="020B0604020202020204" charset="0"/>
      <p:regular r:id="rId24"/>
    </p:embeddedFon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Asap Bold" panose="020B0604020202020204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354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7519649"/>
            <a:ext cx="1623060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1554679" y="3600370"/>
            <a:ext cx="15188096" cy="3608225"/>
            <a:chOff x="0" y="-57150"/>
            <a:chExt cx="20250795" cy="4810967"/>
          </a:xfrm>
        </p:grpSpPr>
        <p:sp>
          <p:nvSpPr>
            <p:cNvPr id="4" name="TextBox 4"/>
            <p:cNvSpPr txBox="1"/>
            <p:nvPr/>
          </p:nvSpPr>
          <p:spPr>
            <a:xfrm>
              <a:off x="0" y="1922529"/>
              <a:ext cx="20250795" cy="28312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511"/>
                </a:lnSpc>
              </a:pPr>
              <a:r>
                <a:rPr lang="en-US" sz="6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Xây dựng ứng </a:t>
              </a:r>
              <a:r>
                <a:rPr lang="en-US" sz="660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dụng </a:t>
              </a:r>
              <a:r>
                <a:rPr lang="en-US" sz="6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mô phỏng giải thuật tìm kiếm trên đồ thị</a:t>
              </a:r>
              <a:endParaRPr lang="en-US" sz="6399" spc="63" dirty="0">
                <a:solidFill>
                  <a:schemeClr val="bg1"/>
                </a:solidFill>
                <a:latin typeface="Arial" panose="020B0604020202020204" pitchFamily="34" charset="0"/>
                <a:ea typeface="Asap"/>
                <a:cs typeface="Arial" panose="020B0604020202020204" pitchFamily="34" charset="0"/>
                <a:sym typeface="Asap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67100" y="-57150"/>
              <a:ext cx="19539964" cy="19492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669"/>
                </a:lnSpc>
              </a:pPr>
              <a:r>
                <a:rPr lang="en-US" sz="4199" b="1" dirty="0">
                  <a:solidFill>
                    <a:srgbClr val="FFFFFF"/>
                  </a:solidFill>
                  <a:latin typeface="Arial" panose="020B0604020202020204" pitchFamily="34" charset="0"/>
                  <a:ea typeface="Muli Bold"/>
                  <a:cs typeface="Arial" panose="020B0604020202020204" pitchFamily="34" charset="0"/>
                  <a:sym typeface="Muli Bold"/>
                </a:rPr>
                <a:t>THỰC TẬP ĐỒ ÁN </a:t>
              </a:r>
              <a:r>
                <a:rPr lang="en-US" sz="4199" b="1" dirty="0" smtClean="0">
                  <a:solidFill>
                    <a:srgbClr val="FFFFFF"/>
                  </a:solidFill>
                  <a:latin typeface="Arial" panose="020B0604020202020204" pitchFamily="34" charset="0"/>
                  <a:ea typeface="Muli Bold"/>
                  <a:cs typeface="Arial" panose="020B0604020202020204" pitchFamily="34" charset="0"/>
                  <a:sym typeface="Muli Bold"/>
                </a:rPr>
                <a:t>CƠ SỞ </a:t>
              </a:r>
              <a:r>
                <a:rPr lang="en-US" sz="4199" b="1" dirty="0">
                  <a:solidFill>
                    <a:srgbClr val="FFFFFF"/>
                  </a:solidFill>
                  <a:latin typeface="Arial" panose="020B0604020202020204" pitchFamily="34" charset="0"/>
                  <a:ea typeface="Muli Bold"/>
                  <a:cs typeface="Arial" panose="020B0604020202020204" pitchFamily="34" charset="0"/>
                  <a:sym typeface="Muli Bold"/>
                </a:rPr>
                <a:t>NGÀNH</a:t>
              </a:r>
            </a:p>
            <a:p>
              <a:pPr marL="0" lvl="0" indent="0" algn="ctr">
                <a:lnSpc>
                  <a:spcPts val="5669"/>
                </a:lnSpc>
              </a:pPr>
              <a:r>
                <a:rPr lang="en-US" sz="4199" b="1" dirty="0">
                  <a:solidFill>
                    <a:srgbClr val="FFFFFF"/>
                  </a:solidFill>
                  <a:latin typeface="Arial" panose="020B0604020202020204" pitchFamily="34" charset="0"/>
                  <a:ea typeface="Muli Bold"/>
                  <a:cs typeface="Arial" panose="020B0604020202020204" pitchFamily="34" charset="0"/>
                  <a:sym typeface="Muli Bold"/>
                </a:rPr>
                <a:t>HỌC KỲ I, NĂM HỌC 2025 - 2026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976166" y="8376225"/>
            <a:ext cx="5715890" cy="1208952"/>
            <a:chOff x="-7095" y="9525"/>
            <a:chExt cx="7621186" cy="1611936"/>
          </a:xfrm>
        </p:grpSpPr>
        <p:sp>
          <p:nvSpPr>
            <p:cNvPr id="7" name="TextBox 7"/>
            <p:cNvSpPr txBox="1"/>
            <p:nvPr/>
          </p:nvSpPr>
          <p:spPr>
            <a:xfrm>
              <a:off x="-7095" y="1078664"/>
              <a:ext cx="7621186" cy="5427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91"/>
                </a:lnSpc>
                <a:spcBef>
                  <a:spcPct val="0"/>
                </a:spcBef>
              </a:pPr>
              <a:r>
                <a:rPr lang="en-US" sz="2799" spc="27" dirty="0" smtClean="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ThS</a:t>
              </a:r>
              <a:r>
                <a:rPr lang="en-US" sz="2799" spc="27" dirty="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. </a:t>
              </a:r>
              <a:r>
                <a:rPr lang="en-US" sz="2799" spc="27" dirty="0" smtClean="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Trầm Hoàng Nam</a:t>
              </a:r>
              <a:endParaRPr lang="en-US" sz="2799" spc="27" dirty="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9525"/>
              <a:ext cx="6962808" cy="5523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91"/>
                </a:lnSpc>
              </a:pPr>
              <a:r>
                <a:rPr lang="en-US" sz="2799" b="1" dirty="0">
                  <a:solidFill>
                    <a:srgbClr val="FFFFFF"/>
                  </a:solidFill>
                  <a:latin typeface="Asap Bold"/>
                  <a:ea typeface="Asap Bold"/>
                  <a:cs typeface="Asap Bold"/>
                  <a:sym typeface="Asap Bold"/>
                </a:rPr>
                <a:t>GIÁO VIÊN HƯỚNG DẪN: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125822" y="8369081"/>
            <a:ext cx="6616953" cy="1216096"/>
            <a:chOff x="0" y="0"/>
            <a:chExt cx="8822605" cy="1621462"/>
          </a:xfrm>
        </p:grpSpPr>
        <p:sp>
          <p:nvSpPr>
            <p:cNvPr id="10" name="TextBox 10"/>
            <p:cNvSpPr txBox="1"/>
            <p:nvPr/>
          </p:nvSpPr>
          <p:spPr>
            <a:xfrm>
              <a:off x="0" y="1078664"/>
              <a:ext cx="8822605" cy="5427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91"/>
                </a:lnSpc>
                <a:spcBef>
                  <a:spcPct val="0"/>
                </a:spcBef>
              </a:pPr>
              <a:r>
                <a:rPr lang="en-US" sz="2799" spc="27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Cô Nhân Quý - 110122150 - DA22TTB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9525"/>
              <a:ext cx="8060438" cy="5523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91"/>
                </a:lnSpc>
              </a:pPr>
              <a:r>
                <a:rPr lang="en-US" sz="2799" b="1">
                  <a:solidFill>
                    <a:srgbClr val="FFFFFF"/>
                  </a:solidFill>
                  <a:latin typeface="Asap Bold"/>
                  <a:ea typeface="Asap Bold"/>
                  <a:cs typeface="Asap Bold"/>
                  <a:sym typeface="Asap Bold"/>
                </a:rPr>
                <a:t>SINH VIÊN THỰC HIỆN:</a:t>
              </a:r>
            </a:p>
          </p:txBody>
        </p:sp>
      </p:grpSp>
      <p:sp>
        <p:nvSpPr>
          <p:cNvPr id="12" name="AutoShape 12"/>
          <p:cNvSpPr/>
          <p:nvPr/>
        </p:nvSpPr>
        <p:spPr>
          <a:xfrm rot="-5400000">
            <a:off x="192133" y="-192133"/>
            <a:ext cx="3578708" cy="3962974"/>
          </a:xfrm>
          <a:prstGeom prst="rect">
            <a:avLst/>
          </a:prstGeom>
          <a:solidFill>
            <a:srgbClr val="D6D7D7"/>
          </a:solidFill>
        </p:spPr>
      </p:sp>
      <p:grpSp>
        <p:nvGrpSpPr>
          <p:cNvPr id="13" name="Group 13"/>
          <p:cNvGrpSpPr/>
          <p:nvPr/>
        </p:nvGrpSpPr>
        <p:grpSpPr>
          <a:xfrm>
            <a:off x="4727" y="0"/>
            <a:ext cx="18288000" cy="3578708"/>
            <a:chOff x="0" y="0"/>
            <a:chExt cx="24384000" cy="4771611"/>
          </a:xfrm>
        </p:grpSpPr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2"/>
            <a:srcRect t="24991" b="45692"/>
            <a:stretch>
              <a:fillRect/>
            </a:stretch>
          </p:blipFill>
          <p:spPr>
            <a:xfrm>
              <a:off x="0" y="0"/>
              <a:ext cx="24384000" cy="4771611"/>
            </a:xfrm>
            <a:prstGeom prst="rect">
              <a:avLst/>
            </a:prstGeom>
          </p:spPr>
        </p:pic>
      </p:grpSp>
      <p:sp>
        <p:nvSpPr>
          <p:cNvPr id="15" name="Freeform 15"/>
          <p:cNvSpPr/>
          <p:nvPr/>
        </p:nvSpPr>
        <p:spPr>
          <a:xfrm>
            <a:off x="766042" y="611492"/>
            <a:ext cx="2420248" cy="2420248"/>
          </a:xfrm>
          <a:custGeom>
            <a:avLst/>
            <a:gdLst/>
            <a:ahLst/>
            <a:cxnLst/>
            <a:rect l="l" t="t" r="r" b="b"/>
            <a:pathLst>
              <a:path w="2420248" h="2420248">
                <a:moveTo>
                  <a:pt x="0" y="0"/>
                </a:moveTo>
                <a:lnTo>
                  <a:pt x="2420248" y="0"/>
                </a:lnTo>
                <a:lnTo>
                  <a:pt x="2420248" y="2420248"/>
                </a:lnTo>
                <a:lnTo>
                  <a:pt x="0" y="24202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3662620" y="1028700"/>
            <a:ext cx="7587512" cy="1623530"/>
            <a:chOff x="0" y="0"/>
            <a:chExt cx="10116683" cy="2164707"/>
          </a:xfrm>
        </p:grpSpPr>
        <p:sp>
          <p:nvSpPr>
            <p:cNvPr id="17" name="TextBox 17"/>
            <p:cNvSpPr txBox="1"/>
            <p:nvPr/>
          </p:nvSpPr>
          <p:spPr>
            <a:xfrm>
              <a:off x="0" y="1429067"/>
              <a:ext cx="10116683" cy="7356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167"/>
                </a:lnSpc>
                <a:spcBef>
                  <a:spcPct val="0"/>
                </a:spcBef>
              </a:pPr>
              <a:r>
                <a:rPr lang="en-US" sz="3655" b="1" spc="36" dirty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KHOA CÔNG NGHỆ THÔNG TIN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0"/>
              <a:ext cx="10116683" cy="7356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167"/>
                </a:lnSpc>
              </a:pPr>
              <a:r>
                <a:rPr lang="en-US" sz="3655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TRƯỜNG KỸ THUẬT CÔNG NGHỆ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43058" y="4652010"/>
            <a:ext cx="6227941" cy="982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410"/>
              </a:lnSpc>
            </a:pPr>
            <a:r>
              <a:rPr lang="en-US" sz="6500" u="none" spc="6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MỤC LỤC</a:t>
            </a:r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6379095" y="1544847"/>
          <a:ext cx="10498727" cy="7197307"/>
        </p:xfrm>
        <a:graphic>
          <a:graphicData uri="http://schemas.openxmlformats.org/drawingml/2006/table">
            <a:tbl>
              <a:tblPr/>
              <a:tblGrid>
                <a:gridCol w="22603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384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23646">
                <a:tc>
                  <a:txBody>
                    <a:bodyPr/>
                    <a:lstStyle/>
                    <a:p>
                      <a:pPr algn="ctr">
                        <a:lnSpc>
                          <a:spcPts val="5040"/>
                        </a:lnSpc>
                        <a:defRPr/>
                      </a:pPr>
                      <a:r>
                        <a:rPr lang="en-US" sz="36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5039"/>
                        </a:lnSpc>
                        <a:defRPr/>
                      </a:pPr>
                      <a:r>
                        <a:rPr lang="en-US" sz="3599" u="sng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Giới thiệu đề tài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3415">
                <a:tc>
                  <a:txBody>
                    <a:bodyPr/>
                    <a:lstStyle/>
                    <a:p>
                      <a:pPr algn="ctr">
                        <a:lnSpc>
                          <a:spcPts val="5039"/>
                        </a:lnSpc>
                        <a:defRPr/>
                      </a:pPr>
                      <a:r>
                        <a:rPr lang="en-US" sz="3599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5040"/>
                        </a:lnSpc>
                        <a:defRPr/>
                      </a:pPr>
                      <a:r>
                        <a:rPr lang="en-US" sz="3600" u="sng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Nghiên cứu lý thuyết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3415">
                <a:tc>
                  <a:txBody>
                    <a:bodyPr/>
                    <a:lstStyle/>
                    <a:p>
                      <a:pPr algn="ctr">
                        <a:lnSpc>
                          <a:spcPts val="5040"/>
                        </a:lnSpc>
                        <a:defRPr/>
                      </a:pPr>
                      <a:r>
                        <a:rPr lang="en-US" sz="36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5040"/>
                        </a:lnSpc>
                        <a:defRPr/>
                      </a:pPr>
                      <a:r>
                        <a:rPr lang="en-US" sz="3600" u="sng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Hiện thực hóa nghiên cứu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3415">
                <a:tc>
                  <a:txBody>
                    <a:bodyPr/>
                    <a:lstStyle/>
                    <a:p>
                      <a:pPr algn="ctr">
                        <a:lnSpc>
                          <a:spcPts val="5040"/>
                        </a:lnSpc>
                        <a:defRPr/>
                      </a:pPr>
                      <a:r>
                        <a:rPr lang="en-US" sz="36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5040"/>
                        </a:lnSpc>
                        <a:defRPr/>
                      </a:pPr>
                      <a:r>
                        <a:rPr lang="en-US" sz="36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Kết quả đạt được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43416">
                <a:tc>
                  <a:txBody>
                    <a:bodyPr/>
                    <a:lstStyle/>
                    <a:p>
                      <a:pPr algn="ctr">
                        <a:lnSpc>
                          <a:spcPts val="5040"/>
                        </a:lnSpc>
                        <a:defRPr/>
                      </a:pPr>
                      <a:r>
                        <a:rPr lang="en-US" sz="36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5040"/>
                        </a:lnSpc>
                        <a:defRPr/>
                      </a:pPr>
                      <a:r>
                        <a:rPr lang="en-US" sz="3600" u="sng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Kết luận và Hướng phát triển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05621" y="1405406"/>
            <a:ext cx="14200020" cy="2658549"/>
            <a:chOff x="0" y="9525"/>
            <a:chExt cx="18933360" cy="3544732"/>
          </a:xfrm>
        </p:grpSpPr>
        <p:sp>
          <p:nvSpPr>
            <p:cNvPr id="3" name="AutoShape 3"/>
            <p:cNvSpPr/>
            <p:nvPr/>
          </p:nvSpPr>
          <p:spPr>
            <a:xfrm>
              <a:off x="0" y="1803907"/>
              <a:ext cx="18933360" cy="0"/>
            </a:xfrm>
            <a:prstGeom prst="line">
              <a:avLst/>
            </a:prstGeom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9525"/>
              <a:ext cx="18933360" cy="1447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207"/>
                </a:lnSpc>
              </a:pPr>
              <a:r>
                <a:rPr lang="en-US" sz="7199" b="1" spc="7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Giới thiệu đề tài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597838"/>
              <a:ext cx="18933360" cy="9564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968"/>
                </a:lnSpc>
              </a:pPr>
              <a:r>
                <a:rPr lang="en-US" sz="4263" b="1" dirty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Lý do chọn đề tài: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9258300"/>
            <a:ext cx="18288000" cy="1028700"/>
            <a:chOff x="0" y="0"/>
            <a:chExt cx="4816593" cy="2709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4816593" cy="2995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164837" y="9589260"/>
            <a:ext cx="3094463" cy="366780"/>
            <a:chOff x="0" y="0"/>
            <a:chExt cx="4125951" cy="489041"/>
          </a:xfrm>
        </p:grpSpPr>
        <p:sp>
          <p:nvSpPr>
            <p:cNvPr id="10" name="TextBox 10"/>
            <p:cNvSpPr txBox="1"/>
            <p:nvPr/>
          </p:nvSpPr>
          <p:spPr>
            <a:xfrm>
              <a:off x="562691" y="3728"/>
              <a:ext cx="3563260" cy="4815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736"/>
                </a:lnSpc>
              </a:pPr>
              <a:r>
                <a:rPr lang="en-US" sz="2400" spc="48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Cô Nhân Quý</a:t>
              </a:r>
            </a:p>
          </p:txBody>
        </p:sp>
        <p:sp>
          <p:nvSpPr>
            <p:cNvPr id="11" name="Freeform 11"/>
            <p:cNvSpPr/>
            <p:nvPr/>
          </p:nvSpPr>
          <p:spPr>
            <a:xfrm rot="5400000">
              <a:off x="-39568" y="39568"/>
              <a:ext cx="489041" cy="409905"/>
            </a:xfrm>
            <a:custGeom>
              <a:avLst/>
              <a:gdLst/>
              <a:ahLst/>
              <a:cxnLst/>
              <a:rect l="l" t="t" r="r" b="b"/>
              <a:pathLst>
                <a:path w="489041" h="409905">
                  <a:moveTo>
                    <a:pt x="0" y="0"/>
                  </a:moveTo>
                  <a:lnTo>
                    <a:pt x="489041" y="0"/>
                  </a:lnTo>
                  <a:lnTo>
                    <a:pt x="489041" y="409905"/>
                  </a:lnTo>
                  <a:lnTo>
                    <a:pt x="0" y="409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=""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2362200" y="4659402"/>
            <a:ext cx="13064767" cy="36933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0881" lvl="1" indent="-345440" algn="just">
              <a:lnSpc>
                <a:spcPts val="4800"/>
              </a:lnSpc>
              <a:buFont typeface="Arial"/>
              <a:buChar char="•"/>
            </a:pPr>
            <a:r>
              <a:rPr lang="vi-VN" sz="3600" spc="64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Các </a:t>
            </a:r>
            <a:r>
              <a:rPr lang="vi-VN" sz="3600" spc="64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giải thuật BFS/DFS là nền tảng quan trọng nhưng khó hình dung qua lý thuyết suông</a:t>
            </a:r>
            <a:r>
              <a:rPr lang="vi-VN" sz="3600" spc="64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lang="en-US" sz="3600" spc="64" dirty="0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90881" lvl="1" indent="-345440" algn="just">
              <a:lnSpc>
                <a:spcPts val="4800"/>
              </a:lnSpc>
              <a:buFont typeface="Arial"/>
              <a:buChar char="•"/>
            </a:pPr>
            <a:endParaRPr lang="en-US" sz="3600" spc="64" dirty="0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90881" lvl="1" indent="-345440" algn="just">
              <a:lnSpc>
                <a:spcPts val="4800"/>
              </a:lnSpc>
              <a:buFont typeface="Arial"/>
              <a:buChar char="•"/>
            </a:pPr>
            <a:r>
              <a:rPr lang="vi-VN" sz="3600" spc="64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Sinh </a:t>
            </a:r>
            <a:r>
              <a:rPr lang="vi-VN" sz="3600" spc="64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viên cần công cụ trực quan để quan sát từng bước chạy của thuật </a:t>
            </a:r>
            <a:r>
              <a:rPr lang="vi-VN" sz="3600" spc="64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toán</a:t>
            </a:r>
          </a:p>
          <a:p>
            <a:pPr algn="ctr">
              <a:lnSpc>
                <a:spcPts val="4831"/>
              </a:lnSpc>
            </a:pPr>
            <a:endParaRPr lang="en-US" sz="3200" spc="64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05621" y="763257"/>
            <a:ext cx="14200020" cy="1519550"/>
            <a:chOff x="0" y="0"/>
            <a:chExt cx="18933360" cy="2026067"/>
          </a:xfrm>
        </p:grpSpPr>
        <p:sp>
          <p:nvSpPr>
            <p:cNvPr id="3" name="AutoShape 3"/>
            <p:cNvSpPr/>
            <p:nvPr/>
          </p:nvSpPr>
          <p:spPr>
            <a:xfrm>
              <a:off x="0" y="2007017"/>
              <a:ext cx="18933360" cy="0"/>
            </a:xfrm>
            <a:prstGeom prst="line">
              <a:avLst/>
            </a:prstGeom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9525"/>
              <a:ext cx="18933360" cy="1447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207"/>
                </a:lnSpc>
              </a:pPr>
              <a:r>
                <a:rPr lang="en-US" sz="7199" b="1" spc="71" dirty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Giới thiệu đề tài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9258300"/>
            <a:ext cx="18288000" cy="1028700"/>
            <a:chOff x="0" y="0"/>
            <a:chExt cx="4816593" cy="2709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4816593" cy="2995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164837" y="9589260"/>
            <a:ext cx="3094463" cy="366780"/>
            <a:chOff x="0" y="0"/>
            <a:chExt cx="4125951" cy="489041"/>
          </a:xfrm>
        </p:grpSpPr>
        <p:sp>
          <p:nvSpPr>
            <p:cNvPr id="9" name="TextBox 9"/>
            <p:cNvSpPr txBox="1"/>
            <p:nvPr/>
          </p:nvSpPr>
          <p:spPr>
            <a:xfrm>
              <a:off x="562691" y="3728"/>
              <a:ext cx="3563260" cy="4815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736"/>
                </a:lnSpc>
              </a:pPr>
              <a:r>
                <a:rPr lang="en-US" sz="2400" spc="48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Cô Nhân Quý</a:t>
              </a:r>
            </a:p>
          </p:txBody>
        </p:sp>
        <p:sp>
          <p:nvSpPr>
            <p:cNvPr id="10" name="Freeform 10"/>
            <p:cNvSpPr/>
            <p:nvPr/>
          </p:nvSpPr>
          <p:spPr>
            <a:xfrm rot="5400000">
              <a:off x="-39568" y="39568"/>
              <a:ext cx="489041" cy="409905"/>
            </a:xfrm>
            <a:custGeom>
              <a:avLst/>
              <a:gdLst/>
              <a:ahLst/>
              <a:cxnLst/>
              <a:rect l="l" t="t" r="r" b="b"/>
              <a:pathLst>
                <a:path w="489041" h="409905">
                  <a:moveTo>
                    <a:pt x="0" y="0"/>
                  </a:moveTo>
                  <a:lnTo>
                    <a:pt x="489041" y="0"/>
                  </a:lnTo>
                  <a:lnTo>
                    <a:pt x="489041" y="409905"/>
                  </a:lnTo>
                  <a:lnTo>
                    <a:pt x="0" y="409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=""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2105621" y="2859945"/>
            <a:ext cx="14513427" cy="5345045"/>
            <a:chOff x="-105665" y="222605"/>
            <a:chExt cx="19351236" cy="7126725"/>
          </a:xfrm>
        </p:grpSpPr>
        <p:sp>
          <p:nvSpPr>
            <p:cNvPr id="12" name="TextBox 12"/>
            <p:cNvSpPr txBox="1"/>
            <p:nvPr/>
          </p:nvSpPr>
          <p:spPr>
            <a:xfrm>
              <a:off x="-105665" y="222605"/>
              <a:ext cx="19351236" cy="10043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6439"/>
                </a:lnSpc>
              </a:pPr>
              <a:r>
                <a:rPr lang="en-US" sz="4292" b="1" spc="42" dirty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Mục tiêu: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87240" y="2015477"/>
              <a:ext cx="16383195" cy="533385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646918" lvl="1" indent="-323459">
                <a:lnSpc>
                  <a:spcPts val="4494"/>
                </a:lnSpc>
                <a:buFont typeface="Arial"/>
                <a:buChar char="•"/>
              </a:pPr>
              <a:r>
                <a:rPr lang="vi-VN" sz="3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Xây dựng ứng dụng Desktop mô phỏng trực quan BFS và DFS</a:t>
              </a:r>
              <a:r>
                <a:rPr lang="vi-VN" sz="3600" dirty="0" smtClean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lang="en-US" sz="36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646918" lvl="1" indent="-323459">
                <a:lnSpc>
                  <a:spcPts val="4494"/>
                </a:lnSpc>
                <a:buFont typeface="Arial"/>
                <a:buChar char="•"/>
              </a:pPr>
              <a:endParaRPr lang="en-US" sz="3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646918" lvl="1" indent="-323459">
                <a:lnSpc>
                  <a:spcPts val="4494"/>
                </a:lnSpc>
                <a:buFont typeface="Arial"/>
                <a:buChar char="•"/>
              </a:pPr>
              <a:r>
                <a:rPr lang="vi-VN" sz="3600" dirty="0" smtClean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Cho </a:t>
              </a:r>
              <a:r>
                <a:rPr lang="vi-VN" sz="3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phép người dùng tương tác: Vẽ tường, chọn điểm đầu/cuối, nhập ma trận</a:t>
              </a:r>
              <a:r>
                <a:rPr lang="vi-VN" sz="3600" dirty="0" smtClean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lang="en-US" sz="36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646918" lvl="1" indent="-323459">
                <a:lnSpc>
                  <a:spcPts val="4494"/>
                </a:lnSpc>
                <a:buFont typeface="Arial"/>
                <a:buChar char="•"/>
              </a:pPr>
              <a:endParaRPr lang="en-US" sz="3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646918" lvl="1" indent="-323459">
                <a:lnSpc>
                  <a:spcPts val="4494"/>
                </a:lnSpc>
                <a:buFont typeface="Arial"/>
                <a:buChar char="•"/>
              </a:pPr>
              <a:r>
                <a:rPr lang="vi-VN" sz="3600" dirty="0" smtClean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So </a:t>
              </a:r>
              <a:r>
                <a:rPr lang="vi-VN" sz="3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sánh hiệu suất song song giữa hai thuật toán.</a:t>
              </a:r>
              <a:endParaRPr lang="en-US" sz="3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87450" y="937737"/>
            <a:ext cx="13790750" cy="8153685"/>
            <a:chOff x="0" y="9525"/>
            <a:chExt cx="18387666" cy="10871579"/>
          </a:xfrm>
        </p:grpSpPr>
        <p:sp>
          <p:nvSpPr>
            <p:cNvPr id="3" name="AutoShape 3"/>
            <p:cNvSpPr/>
            <p:nvPr/>
          </p:nvSpPr>
          <p:spPr>
            <a:xfrm>
              <a:off x="0" y="1942937"/>
              <a:ext cx="18387666" cy="0"/>
            </a:xfrm>
            <a:prstGeom prst="line">
              <a:avLst/>
            </a:prstGeom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9525"/>
              <a:ext cx="17130803" cy="12873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295"/>
                </a:lnSpc>
              </a:pPr>
              <a:r>
                <a:rPr lang="en-US" sz="6399" b="1" spc="63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Nghiên cứu lý thuyết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02867" y="2673730"/>
              <a:ext cx="17881599" cy="820737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345441" lvl="1">
                <a:lnSpc>
                  <a:spcPts val="4800"/>
                </a:lnSpc>
              </a:pPr>
              <a:r>
                <a:rPr lang="vi-VN" sz="3600" b="1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Đồ thị (Graph): </a:t>
              </a:r>
              <a:r>
                <a:rPr lang="vi-VN" sz="3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Cấu trúc dữ liệu gồm các đỉnh (vertices) và cạnh (edges</a:t>
              </a:r>
              <a:r>
                <a:rPr lang="vi-VN" sz="3600" dirty="0" smtClean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).</a:t>
              </a:r>
              <a:endParaRPr lang="en-US" sz="36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345441" lvl="1">
                <a:lnSpc>
                  <a:spcPts val="4800"/>
                </a:lnSpc>
              </a:pPr>
              <a:endParaRPr lang="en-US" sz="36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345441" lvl="1">
                <a:lnSpc>
                  <a:spcPts val="4800"/>
                </a:lnSpc>
              </a:pPr>
              <a:r>
                <a:rPr lang="vi-VN" sz="3600" b="1" dirty="0" smtClean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BFS </a:t>
              </a:r>
              <a:r>
                <a:rPr lang="vi-VN" sz="3600" b="1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(Breadth-First Search</a:t>
              </a:r>
              <a:r>
                <a:rPr lang="vi-VN" sz="3600" b="1" dirty="0" smtClean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):</a:t>
              </a:r>
              <a:r>
                <a:rPr lang="en-US" sz="3600" b="1" dirty="0" smtClean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vi-VN" sz="3600" dirty="0" smtClean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Tìm </a:t>
              </a:r>
              <a:r>
                <a:rPr lang="vi-VN" sz="3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kiếm theo chiều rộng (lan toả theo lớp</a:t>
              </a:r>
              <a:r>
                <a:rPr lang="vi-VN" sz="3600" dirty="0" smtClean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).</a:t>
              </a:r>
              <a:endParaRPr lang="en-US" sz="36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690881" lvl="1" indent="-345440">
                <a:lnSpc>
                  <a:spcPts val="4800"/>
                </a:lnSpc>
                <a:buFont typeface="Arial"/>
                <a:buChar char="•"/>
              </a:pPr>
              <a:r>
                <a:rPr lang="vi-VN" sz="3600" dirty="0" smtClean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Cấu </a:t>
              </a:r>
              <a:r>
                <a:rPr lang="vi-VN" sz="3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trúc dữ liệu: Hàng đợi (Queue</a:t>
              </a:r>
              <a:r>
                <a:rPr lang="vi-VN" sz="3600" dirty="0" smtClean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).</a:t>
              </a:r>
              <a:endParaRPr lang="en-US" sz="36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690881" lvl="1" indent="-345440">
                <a:lnSpc>
                  <a:spcPts val="4800"/>
                </a:lnSpc>
                <a:buFont typeface="Arial"/>
                <a:buChar char="•"/>
              </a:pPr>
              <a:endParaRPr lang="en-US" sz="36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345441" lvl="1">
                <a:lnSpc>
                  <a:spcPts val="4800"/>
                </a:lnSpc>
              </a:pPr>
              <a:r>
                <a:rPr lang="vi-VN" sz="3600" b="1" dirty="0" smtClean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DFS </a:t>
              </a:r>
              <a:r>
                <a:rPr lang="vi-VN" sz="3600" b="1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(Depth-First Search</a:t>
              </a:r>
              <a:r>
                <a:rPr lang="vi-VN" sz="3600" b="1" dirty="0" smtClean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):</a:t>
              </a:r>
              <a:r>
                <a:rPr lang="en-US" sz="3600" b="1" dirty="0" smtClean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vi-VN" sz="3600" dirty="0" smtClean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Tìm </a:t>
              </a:r>
              <a:r>
                <a:rPr lang="vi-VN" sz="3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kiếm theo chiều sâu </a:t>
              </a:r>
              <a:r>
                <a:rPr lang="vi-VN" sz="3600" dirty="0" smtClean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</a:t>
              </a:r>
              <a:r>
                <a:rPr lang="vi-VN" sz="3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đi sâu một nhánh rồi quay lui</a:t>
              </a:r>
              <a:r>
                <a:rPr lang="vi-VN" sz="3600" dirty="0" smtClean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).</a:t>
              </a:r>
              <a:endParaRPr lang="en-US" sz="36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690881" lvl="1" indent="-345440">
                <a:lnSpc>
                  <a:spcPts val="4800"/>
                </a:lnSpc>
                <a:buFont typeface="Arial"/>
                <a:buChar char="•"/>
              </a:pPr>
              <a:r>
                <a:rPr lang="vi-VN" sz="3600" dirty="0" smtClean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Cấu </a:t>
              </a:r>
              <a:r>
                <a:rPr lang="vi-VN" sz="3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trúc dữ liệu: Ngăn xếp (Stack) hoặc Đệ quy.</a:t>
              </a:r>
              <a:endParaRPr lang="en-US" sz="3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9258300"/>
            <a:ext cx="18288000" cy="1028700"/>
            <a:chOff x="0" y="0"/>
            <a:chExt cx="4816593" cy="2709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4816593" cy="2995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164837" y="9589260"/>
            <a:ext cx="3094463" cy="366780"/>
            <a:chOff x="0" y="0"/>
            <a:chExt cx="4125951" cy="489041"/>
          </a:xfrm>
        </p:grpSpPr>
        <p:sp>
          <p:nvSpPr>
            <p:cNvPr id="10" name="TextBox 10"/>
            <p:cNvSpPr txBox="1"/>
            <p:nvPr/>
          </p:nvSpPr>
          <p:spPr>
            <a:xfrm>
              <a:off x="562691" y="3728"/>
              <a:ext cx="3563260" cy="4815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736"/>
                </a:lnSpc>
              </a:pPr>
              <a:r>
                <a:rPr lang="en-US" sz="2400" spc="48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Cô Nhân Quý</a:t>
              </a:r>
            </a:p>
          </p:txBody>
        </p:sp>
        <p:sp>
          <p:nvSpPr>
            <p:cNvPr id="11" name="Freeform 11"/>
            <p:cNvSpPr/>
            <p:nvPr/>
          </p:nvSpPr>
          <p:spPr>
            <a:xfrm rot="5400000">
              <a:off x="-39568" y="39568"/>
              <a:ext cx="489041" cy="409905"/>
            </a:xfrm>
            <a:custGeom>
              <a:avLst/>
              <a:gdLst/>
              <a:ahLst/>
              <a:cxnLst/>
              <a:rect l="l" t="t" r="r" b="b"/>
              <a:pathLst>
                <a:path w="489041" h="409905">
                  <a:moveTo>
                    <a:pt x="0" y="0"/>
                  </a:moveTo>
                  <a:lnTo>
                    <a:pt x="489041" y="0"/>
                  </a:lnTo>
                  <a:lnTo>
                    <a:pt x="489041" y="409905"/>
                  </a:lnTo>
                  <a:lnTo>
                    <a:pt x="0" y="409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=""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48623" y="952500"/>
            <a:ext cx="13790750" cy="1450059"/>
            <a:chOff x="0" y="9525"/>
            <a:chExt cx="18387666" cy="1933412"/>
          </a:xfrm>
        </p:grpSpPr>
        <p:sp>
          <p:nvSpPr>
            <p:cNvPr id="3" name="AutoShape 3"/>
            <p:cNvSpPr/>
            <p:nvPr/>
          </p:nvSpPr>
          <p:spPr>
            <a:xfrm>
              <a:off x="0" y="1942937"/>
              <a:ext cx="18387666" cy="0"/>
            </a:xfrm>
            <a:prstGeom prst="line">
              <a:avLst/>
            </a:prstGeom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9525"/>
              <a:ext cx="17130803" cy="12873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295"/>
                </a:lnSpc>
              </a:pPr>
              <a:r>
                <a:rPr lang="en-US" sz="6399" b="1" spc="63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Nghiên cứu lý thuyết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9258300"/>
            <a:ext cx="18288000" cy="1028700"/>
            <a:chOff x="0" y="0"/>
            <a:chExt cx="4816593" cy="2709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4816593" cy="2995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164837" y="9589260"/>
            <a:ext cx="3094463" cy="366780"/>
            <a:chOff x="0" y="0"/>
            <a:chExt cx="4125951" cy="489041"/>
          </a:xfrm>
        </p:grpSpPr>
        <p:sp>
          <p:nvSpPr>
            <p:cNvPr id="10" name="TextBox 10"/>
            <p:cNvSpPr txBox="1"/>
            <p:nvPr/>
          </p:nvSpPr>
          <p:spPr>
            <a:xfrm>
              <a:off x="562691" y="3728"/>
              <a:ext cx="3563260" cy="4815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736"/>
                </a:lnSpc>
              </a:pPr>
              <a:r>
                <a:rPr lang="en-US" sz="2400" spc="48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Cô Nhân Quý</a:t>
              </a:r>
            </a:p>
          </p:txBody>
        </p:sp>
        <p:sp>
          <p:nvSpPr>
            <p:cNvPr id="11" name="Freeform 11"/>
            <p:cNvSpPr/>
            <p:nvPr/>
          </p:nvSpPr>
          <p:spPr>
            <a:xfrm rot="5400000">
              <a:off x="-39568" y="39568"/>
              <a:ext cx="489041" cy="409905"/>
            </a:xfrm>
            <a:custGeom>
              <a:avLst/>
              <a:gdLst/>
              <a:ahLst/>
              <a:cxnLst/>
              <a:rect l="l" t="t" r="r" b="b"/>
              <a:pathLst>
                <a:path w="489041" h="409905">
                  <a:moveTo>
                    <a:pt x="0" y="0"/>
                  </a:moveTo>
                  <a:lnTo>
                    <a:pt x="489041" y="0"/>
                  </a:lnTo>
                  <a:lnTo>
                    <a:pt x="489041" y="409905"/>
                  </a:lnTo>
                  <a:lnTo>
                    <a:pt x="0" y="409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=""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2307972"/>
              </p:ext>
            </p:extLst>
          </p:nvPr>
        </p:nvGraphicFramePr>
        <p:xfrm>
          <a:off x="2248623" y="3724478"/>
          <a:ext cx="13790751" cy="50194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52177">
                  <a:extLst>
                    <a:ext uri="{9D8B030D-6E8A-4147-A177-3AD203B41FA5}">
                      <a16:colId xmlns:a16="http://schemas.microsoft.com/office/drawing/2014/main" val="2001417778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3364187556"/>
                    </a:ext>
                  </a:extLst>
                </a:gridCol>
                <a:gridCol w="4685574">
                  <a:extLst>
                    <a:ext uri="{9D8B030D-6E8A-4147-A177-3AD203B41FA5}">
                      <a16:colId xmlns:a16="http://schemas.microsoft.com/office/drawing/2014/main" val="3664151052"/>
                    </a:ext>
                  </a:extLst>
                </a:gridCol>
              </a:tblGrid>
              <a:tr h="988163">
                <a:tc>
                  <a:txBody>
                    <a:bodyPr/>
                    <a:lstStyle/>
                    <a:p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BFS</a:t>
                      </a: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DFS</a:t>
                      </a: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2477023"/>
                  </a:ext>
                </a:extLst>
              </a:tr>
              <a:tr h="988163">
                <a:tc>
                  <a:txBody>
                    <a:bodyPr/>
                    <a:lstStyle/>
                    <a:p>
                      <a:pPr algn="l"/>
                      <a:r>
                        <a:rPr lang="en-US" sz="3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Cấu</a:t>
                      </a:r>
                      <a:r>
                        <a:rPr lang="en-US" sz="3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trúc</a:t>
                      </a: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3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Queue</a:t>
                      </a: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3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Stack</a:t>
                      </a: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8107274"/>
                  </a:ext>
                </a:extLst>
              </a:tr>
              <a:tr h="988163">
                <a:tc>
                  <a:txBody>
                    <a:bodyPr/>
                    <a:lstStyle/>
                    <a:p>
                      <a:pPr algn="l"/>
                      <a:r>
                        <a:rPr lang="en-US" sz="3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Nguyên</a:t>
                      </a:r>
                      <a:r>
                        <a:rPr lang="en-US" sz="3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lý</a:t>
                      </a: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3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Lan rộng (quét đều)</a:t>
                      </a: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3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Đi sâu (quét nhánh)</a:t>
                      </a: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5190825"/>
                  </a:ext>
                </a:extLst>
              </a:tr>
              <a:tr h="988163">
                <a:tc>
                  <a:txBody>
                    <a:bodyPr/>
                    <a:lstStyle/>
                    <a:p>
                      <a:pPr algn="l"/>
                      <a:r>
                        <a:rPr lang="en-US" sz="3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Đường</a:t>
                      </a:r>
                      <a:r>
                        <a:rPr lang="en-US" sz="3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đi ngắn nhất</a:t>
                      </a: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3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Chắc chắn</a:t>
                      </a:r>
                      <a:r>
                        <a:rPr lang="en-US" sz="3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có</a:t>
                      </a: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3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Không đảm bảo</a:t>
                      </a: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4821961"/>
                  </a:ext>
                </a:extLst>
              </a:tr>
              <a:tr h="988163">
                <a:tc>
                  <a:txBody>
                    <a:bodyPr/>
                    <a:lstStyle/>
                    <a:p>
                      <a:pPr algn="l"/>
                      <a:r>
                        <a:rPr lang="en-US" sz="3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Ứng</a:t>
                      </a:r>
                      <a:r>
                        <a:rPr lang="en-US" sz="3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dụng</a:t>
                      </a: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vi-VN" sz="3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Tìm đường đi ngắn nhất, mê cung</a:t>
                      </a: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3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Phát hiện chu trình, phân tích cấu trúc</a:t>
                      </a: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4597702"/>
                  </a:ext>
                </a:extLst>
              </a:tr>
            </a:tbl>
          </a:graphicData>
        </a:graphic>
      </p:graphicFrame>
      <p:sp>
        <p:nvSpPr>
          <p:cNvPr id="13" name="TextBox 5"/>
          <p:cNvSpPr txBox="1"/>
          <p:nvPr/>
        </p:nvSpPr>
        <p:spPr>
          <a:xfrm>
            <a:off x="2248623" y="2711507"/>
            <a:ext cx="14200020" cy="717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68"/>
              </a:lnSpc>
            </a:pPr>
            <a:r>
              <a:rPr lang="en-US" sz="4263" b="1" dirty="0" smtClean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So sánh</a:t>
            </a:r>
            <a:endParaRPr lang="en-US" sz="4263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</p:spTree>
    <p:extLst>
      <p:ext uri="{BB962C8B-B14F-4D97-AF65-F5344CB8AC3E}">
        <p14:creationId xmlns:p14="http://schemas.microsoft.com/office/powerpoint/2010/main" val="2326545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49055" y="478918"/>
            <a:ext cx="15389884" cy="8649207"/>
            <a:chOff x="-4" y="-733043"/>
            <a:chExt cx="20519846" cy="11532275"/>
          </a:xfrm>
        </p:grpSpPr>
        <p:sp>
          <p:nvSpPr>
            <p:cNvPr id="3" name="AutoShape 3"/>
            <p:cNvSpPr/>
            <p:nvPr/>
          </p:nvSpPr>
          <p:spPr>
            <a:xfrm>
              <a:off x="-4" y="2336800"/>
              <a:ext cx="20519845" cy="0"/>
            </a:xfrm>
            <a:prstGeom prst="line">
              <a:avLst/>
            </a:prstGeom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-4" y="-733043"/>
              <a:ext cx="20519846" cy="28473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560"/>
                </a:lnSpc>
              </a:pPr>
              <a:r>
                <a:rPr lang="en-US" sz="6400" b="1" spc="64" dirty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Hiện thực hóa nghiên cứu</a:t>
              </a:r>
            </a:p>
            <a:p>
              <a:pPr marL="0" lvl="0" indent="0" algn="l">
                <a:lnSpc>
                  <a:spcPts val="6930"/>
                </a:lnSpc>
              </a:pPr>
              <a:r>
                <a:rPr lang="en-US" sz="4200" b="1" spc="42" dirty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Công cụ và môi trường phát triển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03121" y="2643154"/>
              <a:ext cx="20216721" cy="81560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690881" lvl="1" indent="-345440">
                <a:lnSpc>
                  <a:spcPts val="5280"/>
                </a:lnSpc>
                <a:buAutoNum type="arabicPeriod"/>
              </a:pPr>
              <a:r>
                <a:rPr lang="en-US" sz="3200" b="1" dirty="0" smtClean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 Ngôn </a:t>
              </a:r>
              <a:r>
                <a:rPr lang="en-US" sz="3200" b="1" u="none" dirty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ngữ lập trình:</a:t>
              </a:r>
              <a:r>
                <a:rPr lang="en-US" sz="3200" u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3200" dirty="0" smtClean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HTML</a:t>
              </a:r>
              <a:r>
                <a:rPr lang="en-US" sz="32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, CSS, JavaScript (Bộ 3 công nghệ cốt lõi xây dựng giao diện và xử lý thuật toán)</a:t>
              </a:r>
              <a:endParaRPr lang="en-US" sz="320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690881" lvl="1" indent="-345440" algn="l">
                <a:lnSpc>
                  <a:spcPts val="5280"/>
                </a:lnSpc>
                <a:buAutoNum type="arabicPeriod"/>
              </a:pPr>
              <a:r>
                <a:rPr lang="en-US" sz="3200" b="1" u="none" dirty="0" smtClean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 Môi </a:t>
              </a:r>
              <a:r>
                <a:rPr lang="en-US" sz="3200" b="1" u="none" dirty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trường thực </a:t>
              </a:r>
              <a:r>
                <a:rPr lang="en-US" sz="3200" b="1" u="none" dirty="0" smtClean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nghiệm: </a:t>
              </a:r>
              <a:r>
                <a:rPr lang="vi-VN" sz="3200" dirty="0" smtClean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Node.js </a:t>
              </a:r>
              <a:r>
                <a:rPr lang="vi-VN" sz="32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&amp; Visual Studio Code: </a:t>
              </a:r>
              <a:r>
                <a:rPr lang="vi-VN" sz="3200" dirty="0" smtClean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thực </a:t>
              </a:r>
              <a:r>
                <a:rPr lang="vi-VN" sz="32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thi mã nguồn và công cụ hỗ trợ lập trình tích hợp.</a:t>
              </a:r>
              <a:endParaRPr lang="en-US" sz="320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859791" lvl="1" indent="-514350" algn="l">
                <a:lnSpc>
                  <a:spcPts val="5280"/>
                </a:lnSpc>
                <a:buFont typeface="+mj-lt"/>
                <a:buAutoNum type="arabicPeriod" startAt="3"/>
              </a:pPr>
              <a:r>
                <a:rPr lang="en-US" sz="3200" b="1" u="none" dirty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Thư viện chính (Libraries):</a:t>
              </a:r>
            </a:p>
            <a:p>
              <a:pPr marL="802641" lvl="1" indent="-457200">
                <a:lnSpc>
                  <a:spcPts val="5280"/>
                </a:lnSpc>
                <a:buFont typeface="Wingdings" panose="05000000000000000000" pitchFamily="2" charset="2"/>
                <a:buChar char="§"/>
              </a:pPr>
              <a:r>
                <a:rPr lang="vi-VN" sz="32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Framework: ElectronJS (Đóng gói mã nguồn Web thành ứng dụng Desktop đa nền tảng</a:t>
              </a:r>
              <a:r>
                <a:rPr lang="vi-VN" sz="3200" dirty="0" smtClean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).</a:t>
              </a:r>
              <a:endParaRPr lang="en-US" sz="32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802641" lvl="1" indent="-457200">
                <a:lnSpc>
                  <a:spcPts val="5280"/>
                </a:lnSpc>
                <a:buFont typeface="Wingdings" panose="05000000000000000000" pitchFamily="2" charset="2"/>
                <a:buChar char="§"/>
              </a:pPr>
              <a:r>
                <a:rPr lang="vi-VN" sz="3200" dirty="0" smtClean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Cấu </a:t>
              </a:r>
              <a:r>
                <a:rPr lang="vi-VN" sz="32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trúc dữ liệu: Array (Dùng để cài đặt Queue cho BFS và Stack cho DFS</a:t>
              </a:r>
              <a:r>
                <a:rPr lang="vi-VN" sz="3200" dirty="0" smtClean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).</a:t>
              </a:r>
              <a:endParaRPr lang="en-US" sz="32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802641" lvl="1" indent="-457200">
                <a:lnSpc>
                  <a:spcPts val="5280"/>
                </a:lnSpc>
                <a:buFont typeface="Wingdings" panose="05000000000000000000" pitchFamily="2" charset="2"/>
                <a:buChar char="§"/>
              </a:pPr>
              <a:r>
                <a:rPr lang="vi-VN" sz="3200" dirty="0" smtClean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Quản </a:t>
              </a:r>
              <a:r>
                <a:rPr lang="vi-VN" sz="32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lý mã nguồn: Git &amp; GitHub (Lưu trữ và quản lý phiên bản dự án).</a:t>
              </a:r>
              <a:endParaRPr lang="en-US" sz="320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9258300"/>
            <a:ext cx="18288000" cy="1028700"/>
            <a:chOff x="0" y="0"/>
            <a:chExt cx="4816593" cy="2709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4816593" cy="2995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164837" y="9589260"/>
            <a:ext cx="3094463" cy="366780"/>
            <a:chOff x="0" y="0"/>
            <a:chExt cx="4125951" cy="489041"/>
          </a:xfrm>
        </p:grpSpPr>
        <p:sp>
          <p:nvSpPr>
            <p:cNvPr id="10" name="TextBox 10"/>
            <p:cNvSpPr txBox="1"/>
            <p:nvPr/>
          </p:nvSpPr>
          <p:spPr>
            <a:xfrm>
              <a:off x="562691" y="3728"/>
              <a:ext cx="3563260" cy="4815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736"/>
                </a:lnSpc>
              </a:pPr>
              <a:r>
                <a:rPr lang="en-US" sz="2400" spc="48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Cô Nhân Quý</a:t>
              </a:r>
            </a:p>
          </p:txBody>
        </p:sp>
        <p:sp>
          <p:nvSpPr>
            <p:cNvPr id="11" name="Freeform 11"/>
            <p:cNvSpPr/>
            <p:nvPr/>
          </p:nvSpPr>
          <p:spPr>
            <a:xfrm rot="5400000">
              <a:off x="-39568" y="39568"/>
              <a:ext cx="489041" cy="409905"/>
            </a:xfrm>
            <a:custGeom>
              <a:avLst/>
              <a:gdLst/>
              <a:ahLst/>
              <a:cxnLst/>
              <a:rect l="l" t="t" r="r" b="b"/>
              <a:pathLst>
                <a:path w="489041" h="409905">
                  <a:moveTo>
                    <a:pt x="0" y="0"/>
                  </a:moveTo>
                  <a:lnTo>
                    <a:pt x="489041" y="0"/>
                  </a:lnTo>
                  <a:lnTo>
                    <a:pt x="489041" y="409905"/>
                  </a:lnTo>
                  <a:lnTo>
                    <a:pt x="0" y="409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=""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49055" y="478918"/>
            <a:ext cx="15389884" cy="8191198"/>
            <a:chOff x="-4" y="-733043"/>
            <a:chExt cx="20519846" cy="10921596"/>
          </a:xfrm>
        </p:grpSpPr>
        <p:sp>
          <p:nvSpPr>
            <p:cNvPr id="3" name="AutoShape 3"/>
            <p:cNvSpPr/>
            <p:nvPr/>
          </p:nvSpPr>
          <p:spPr>
            <a:xfrm>
              <a:off x="-4" y="2336800"/>
              <a:ext cx="20519845" cy="0"/>
            </a:xfrm>
            <a:prstGeom prst="line">
              <a:avLst/>
            </a:prstGeom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-4" y="-733043"/>
              <a:ext cx="20519846" cy="30435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560"/>
                </a:lnSpc>
              </a:pPr>
              <a:r>
                <a:rPr lang="en-US" sz="6400" b="1" spc="64" dirty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Hiện thực hóa nghiên cứu</a:t>
              </a:r>
            </a:p>
            <a:p>
              <a:pPr>
                <a:lnSpc>
                  <a:spcPts val="7200"/>
                </a:lnSpc>
              </a:pPr>
              <a:r>
                <a:rPr lang="en-US" sz="4200" b="1" dirty="0">
                  <a:latin typeface="Arial" panose="020B0604020202020204" pitchFamily="34" charset="0"/>
                  <a:cs typeface="Arial" panose="020B0604020202020204" pitchFamily="34" charset="0"/>
                </a:rPr>
                <a:t>Thiết kế hệ thống &amp; Cấu trúc dữ liệu</a:t>
              </a:r>
              <a:endParaRPr lang="en-US" sz="4200" b="1" spc="42" dirty="0">
                <a:solidFill>
                  <a:srgbClr val="000000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03121" y="2643154"/>
              <a:ext cx="20216721" cy="754539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345441" lvl="1">
                <a:lnSpc>
                  <a:spcPts val="5600"/>
                </a:lnSpc>
              </a:pPr>
              <a:r>
                <a:rPr lang="vi-VN" sz="3600" dirty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Giao diện (UI):</a:t>
              </a:r>
              <a:endParaRPr lang="en-US" sz="3600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  <a:p>
              <a:pPr marL="802641" lvl="1" indent="-457200">
                <a:lnSpc>
                  <a:spcPts val="5600"/>
                </a:lnSpc>
                <a:buFont typeface="Arial" panose="020B0604020202020204" pitchFamily="34" charset="0"/>
                <a:buChar char="•"/>
              </a:pPr>
              <a:r>
                <a:rPr lang="vi-VN" sz="3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Bảng điều khiển (Trái): Các nút chức năng, chú thích màu.</a:t>
              </a:r>
              <a:endParaRPr lang="en-US" sz="3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802641" lvl="1" indent="-457200">
                <a:lnSpc>
                  <a:spcPts val="5600"/>
                </a:lnSpc>
                <a:buFont typeface="Arial" panose="020B0604020202020204" pitchFamily="34" charset="0"/>
                <a:buChar char="•"/>
              </a:pPr>
              <a:r>
                <a:rPr lang="vi-VN" sz="3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Lưới mô phỏng (Phải): Lưới 20x20, các ô đại diện cho đỉnh.</a:t>
              </a:r>
              <a:endParaRPr lang="en-US" sz="3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802641" lvl="1" indent="-457200">
                <a:lnSpc>
                  <a:spcPts val="5600"/>
                </a:lnSpc>
                <a:buFont typeface="Arial" panose="020B0604020202020204" pitchFamily="34" charset="0"/>
                <a:buChar char="•"/>
              </a:pPr>
              <a:endParaRPr lang="en-US" sz="3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345441" lvl="1">
                <a:lnSpc>
                  <a:spcPts val="5600"/>
                </a:lnSpc>
              </a:pPr>
              <a:r>
                <a:rPr lang="vi-VN" sz="3600" b="1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Cấu trúc dữ liệu trong Code:</a:t>
              </a:r>
              <a:endParaRPr lang="en-US" sz="36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802641" lvl="1" indent="-457200">
                <a:lnSpc>
                  <a:spcPts val="5600"/>
                </a:lnSpc>
                <a:buFont typeface="Arial" panose="020B0604020202020204" pitchFamily="34" charset="0"/>
                <a:buChar char="•"/>
              </a:pPr>
              <a:r>
                <a:rPr lang="vi-VN" sz="3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Node: Object {r, c} lưu tọa độ.</a:t>
              </a:r>
              <a:endParaRPr lang="en-US" sz="3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802641" lvl="1" indent="-457200">
                <a:lnSpc>
                  <a:spcPts val="5600"/>
                </a:lnSpc>
                <a:buFont typeface="Arial" panose="020B0604020202020204" pitchFamily="34" charset="0"/>
                <a:buChar char="•"/>
              </a:pPr>
              <a:r>
                <a:rPr lang="vi-VN" sz="3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Tường (Walls): Sử dụng Set để lưu vị trí tường, tối ưu truy xuất O(1).</a:t>
              </a:r>
              <a:endParaRPr lang="en-US" sz="3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802641" lvl="1" indent="-457200">
                <a:lnSpc>
                  <a:spcPts val="5600"/>
                </a:lnSpc>
                <a:buFont typeface="Arial" panose="020B0604020202020204" pitchFamily="34" charset="0"/>
                <a:buChar char="•"/>
              </a:pPr>
              <a:r>
                <a:rPr lang="vi-VN" sz="3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Truy vết: Mảng 2 chiều parent[r][c] để vẽ lại đường đi</a:t>
              </a:r>
              <a:endParaRPr lang="en-US" sz="3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9258300"/>
            <a:ext cx="18288000" cy="1028700"/>
            <a:chOff x="0" y="0"/>
            <a:chExt cx="4816593" cy="2709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4816593" cy="2995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164837" y="9589260"/>
            <a:ext cx="3094463" cy="366780"/>
            <a:chOff x="0" y="0"/>
            <a:chExt cx="4125951" cy="489041"/>
          </a:xfrm>
        </p:grpSpPr>
        <p:sp>
          <p:nvSpPr>
            <p:cNvPr id="10" name="TextBox 10"/>
            <p:cNvSpPr txBox="1"/>
            <p:nvPr/>
          </p:nvSpPr>
          <p:spPr>
            <a:xfrm>
              <a:off x="562691" y="3728"/>
              <a:ext cx="3563260" cy="4815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736"/>
                </a:lnSpc>
              </a:pPr>
              <a:r>
                <a:rPr lang="en-US" sz="2400" spc="48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Cô Nhân Quý</a:t>
              </a:r>
            </a:p>
          </p:txBody>
        </p:sp>
        <p:sp>
          <p:nvSpPr>
            <p:cNvPr id="11" name="Freeform 11"/>
            <p:cNvSpPr/>
            <p:nvPr/>
          </p:nvSpPr>
          <p:spPr>
            <a:xfrm rot="5400000">
              <a:off x="-39568" y="39568"/>
              <a:ext cx="489041" cy="409905"/>
            </a:xfrm>
            <a:custGeom>
              <a:avLst/>
              <a:gdLst/>
              <a:ahLst/>
              <a:cxnLst/>
              <a:rect l="l" t="t" r="r" b="b"/>
              <a:pathLst>
                <a:path w="489041" h="409905">
                  <a:moveTo>
                    <a:pt x="0" y="0"/>
                  </a:moveTo>
                  <a:lnTo>
                    <a:pt x="489041" y="0"/>
                  </a:lnTo>
                  <a:lnTo>
                    <a:pt x="489041" y="409905"/>
                  </a:lnTo>
                  <a:lnTo>
                    <a:pt x="0" y="409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=""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2936997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49055" y="478918"/>
            <a:ext cx="15389884" cy="8277311"/>
            <a:chOff x="-4" y="-733043"/>
            <a:chExt cx="20519846" cy="11036414"/>
          </a:xfrm>
        </p:grpSpPr>
        <p:sp>
          <p:nvSpPr>
            <p:cNvPr id="3" name="AutoShape 3"/>
            <p:cNvSpPr/>
            <p:nvPr/>
          </p:nvSpPr>
          <p:spPr>
            <a:xfrm>
              <a:off x="-4" y="2336800"/>
              <a:ext cx="20519845" cy="0"/>
            </a:xfrm>
            <a:prstGeom prst="line">
              <a:avLst/>
            </a:prstGeom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-4" y="-733043"/>
              <a:ext cx="20519846" cy="30435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560"/>
                </a:lnSpc>
              </a:pPr>
              <a:r>
                <a:rPr lang="en-US" sz="6400" b="1" spc="64" dirty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Hiện thực hóa nghiên cứu</a:t>
              </a:r>
            </a:p>
            <a:p>
              <a:pPr>
                <a:lnSpc>
                  <a:spcPts val="7200"/>
                </a:lnSpc>
              </a:pPr>
              <a:r>
                <a:rPr lang="en-US" sz="4200" b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Thực hiện chức năng chính</a:t>
              </a:r>
              <a:endParaRPr lang="en-US" sz="4200" b="1" spc="42" dirty="0">
                <a:solidFill>
                  <a:srgbClr val="000000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03121" y="2643154"/>
              <a:ext cx="20216721" cy="766021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345441" lvl="1">
                <a:lnSpc>
                  <a:spcPts val="5600"/>
                </a:lnSpc>
              </a:pPr>
              <a:r>
                <a:rPr lang="en-US" sz="3600" b="1" dirty="0" smtClean="0">
                  <a:solidFill>
                    <a:srgbClr val="000000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Cơ chế hoạt động:</a:t>
              </a:r>
            </a:p>
            <a:p>
              <a:pPr marL="802641" lvl="1" indent="-457200">
                <a:lnSpc>
                  <a:spcPts val="5600"/>
                </a:lnSpc>
                <a:buFont typeface="Arial" panose="020B0604020202020204" pitchFamily="34" charset="0"/>
                <a:buChar char="•"/>
              </a:pPr>
              <a:r>
                <a:rPr lang="vi-VN" sz="3600" dirty="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Sử dụng async/await và hàm sleep() để tạo hiệu ứng chuyển động chậm (Animation) giúp mắt thường quan sát được.</a:t>
              </a:r>
              <a:endParaRPr lang="en-US" sz="3600" dirty="0" smtClean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endParaRPr>
            </a:p>
            <a:p>
              <a:pPr marL="345441" lvl="1">
                <a:lnSpc>
                  <a:spcPts val="5600"/>
                </a:lnSpc>
              </a:pPr>
              <a:r>
                <a:rPr lang="en-US" sz="3600" b="1" dirty="0" smtClean="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Mã màu trực quan</a:t>
              </a:r>
              <a:r>
                <a:rPr lang="vi-VN" sz="3600" b="1" dirty="0" smtClean="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:</a:t>
              </a:r>
              <a:endParaRPr lang="en-US" sz="3600" b="1" dirty="0" smtClean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endParaRPr>
            </a:p>
            <a:p>
              <a:pPr marL="1717041" lvl="3" indent="-457200">
                <a:lnSpc>
                  <a:spcPts val="5600"/>
                </a:lnSpc>
                <a:buFont typeface="Arial" panose="020B0604020202020204" pitchFamily="34" charset="0"/>
                <a:buChar char="•"/>
              </a:pPr>
              <a:r>
                <a:rPr lang="vi-VN" sz="3600" b="1" dirty="0">
                  <a:latin typeface="Arial" panose="020B0604020202020204" pitchFamily="34" charset="0"/>
                  <a:cs typeface="Arial" panose="020B0604020202020204" pitchFamily="34" charset="0"/>
                </a:rPr>
                <a:t>Xanh dương (BFS):</a:t>
              </a:r>
              <a:r>
                <a:rPr lang="vi-VN" sz="3600" dirty="0">
                  <a:latin typeface="Arial" panose="020B0604020202020204" pitchFamily="34" charset="0"/>
                  <a:cs typeface="Arial" panose="020B0604020202020204" pitchFamily="34" charset="0"/>
                </a:rPr>
                <a:t> Vùng đã duyệt loang rộng</a:t>
              </a:r>
              <a:r>
                <a:rPr lang="vi-VN" sz="36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  <a:endParaRPr lang="en-US" sz="3600" dirty="0" smtClean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717041" lvl="3" indent="-457200">
                <a:lnSpc>
                  <a:spcPts val="5600"/>
                </a:lnSpc>
                <a:buFont typeface="Arial" panose="020B0604020202020204" pitchFamily="34" charset="0"/>
                <a:buChar char="•"/>
              </a:pPr>
              <a:r>
                <a:rPr lang="en-US" sz="3600" b="1" dirty="0">
                  <a:latin typeface="Arial" panose="020B0604020202020204" pitchFamily="34" charset="0"/>
                  <a:cs typeface="Arial" panose="020B0604020202020204" pitchFamily="34" charset="0"/>
                </a:rPr>
                <a:t>Cam (DFS):</a:t>
              </a:r>
              <a:r>
                <a:rPr lang="en-US" sz="3600" dirty="0">
                  <a:latin typeface="Arial" panose="020B0604020202020204" pitchFamily="34" charset="0"/>
                  <a:cs typeface="Arial" panose="020B0604020202020204" pitchFamily="34" charset="0"/>
                </a:rPr>
                <a:t> Vùng đã duyệt theo nhánh sâu</a:t>
              </a:r>
              <a:r>
                <a:rPr lang="en-US" sz="36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 marL="1717041" lvl="3" indent="-457200">
                <a:lnSpc>
                  <a:spcPts val="5600"/>
                </a:lnSpc>
                <a:buFont typeface="Arial" panose="020B0604020202020204" pitchFamily="34" charset="0"/>
                <a:buChar char="•"/>
              </a:pPr>
              <a:r>
                <a:rPr lang="vi-VN" sz="3600" b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Vàng</a:t>
              </a:r>
              <a:r>
                <a:rPr lang="vi-VN" sz="3600" b="1" dirty="0">
                  <a:latin typeface="Arial" panose="020B0604020202020204" pitchFamily="34" charset="0"/>
                  <a:cs typeface="Arial" panose="020B0604020202020204" pitchFamily="34" charset="0"/>
                </a:rPr>
                <a:t>:</a:t>
              </a:r>
              <a:r>
                <a:rPr lang="vi-VN" sz="3600" dirty="0">
                  <a:latin typeface="Arial" panose="020B0604020202020204" pitchFamily="34" charset="0"/>
                  <a:cs typeface="Arial" panose="020B0604020202020204" pitchFamily="34" charset="0"/>
                </a:rPr>
                <a:t> Đường đi tìm được</a:t>
              </a:r>
              <a:r>
                <a:rPr lang="vi-VN" sz="36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  <a:endParaRPr lang="en-US" sz="3600" dirty="0" smtClean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717041" lvl="3" indent="-457200">
                <a:lnSpc>
                  <a:spcPts val="5600"/>
                </a:lnSpc>
                <a:buFont typeface="Arial" panose="020B0604020202020204" pitchFamily="34" charset="0"/>
                <a:buChar char="•"/>
              </a:pPr>
              <a:r>
                <a:rPr lang="vi-VN" sz="3600" b="1" dirty="0">
                  <a:latin typeface="Arial" panose="020B0604020202020204" pitchFamily="34" charset="0"/>
                  <a:cs typeface="Arial" panose="020B0604020202020204" pitchFamily="34" charset="0"/>
                </a:rPr>
                <a:t>Xám đen:</a:t>
              </a:r>
              <a:r>
                <a:rPr lang="vi-VN" sz="3600" dirty="0">
                  <a:latin typeface="Arial" panose="020B0604020202020204" pitchFamily="34" charset="0"/>
                  <a:cs typeface="Arial" panose="020B0604020202020204" pitchFamily="34" charset="0"/>
                </a:rPr>
                <a:t> Tường/Chướng ngại vật.</a:t>
              </a:r>
              <a:endParaRPr lang="en-US" sz="360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9258300"/>
            <a:ext cx="18288000" cy="1028700"/>
            <a:chOff x="0" y="0"/>
            <a:chExt cx="4816593" cy="2709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4816593" cy="2995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164837" y="9589260"/>
            <a:ext cx="3094463" cy="366780"/>
            <a:chOff x="0" y="0"/>
            <a:chExt cx="4125951" cy="489041"/>
          </a:xfrm>
        </p:grpSpPr>
        <p:sp>
          <p:nvSpPr>
            <p:cNvPr id="10" name="TextBox 10"/>
            <p:cNvSpPr txBox="1"/>
            <p:nvPr/>
          </p:nvSpPr>
          <p:spPr>
            <a:xfrm>
              <a:off x="562691" y="3728"/>
              <a:ext cx="3563260" cy="4815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736"/>
                </a:lnSpc>
              </a:pPr>
              <a:r>
                <a:rPr lang="en-US" sz="2400" spc="48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Cô Nhân Quý</a:t>
              </a:r>
            </a:p>
          </p:txBody>
        </p:sp>
        <p:sp>
          <p:nvSpPr>
            <p:cNvPr id="11" name="Freeform 11"/>
            <p:cNvSpPr/>
            <p:nvPr/>
          </p:nvSpPr>
          <p:spPr>
            <a:xfrm rot="5400000">
              <a:off x="-39568" y="39568"/>
              <a:ext cx="489041" cy="409905"/>
            </a:xfrm>
            <a:custGeom>
              <a:avLst/>
              <a:gdLst/>
              <a:ahLst/>
              <a:cxnLst/>
              <a:rect l="l" t="t" r="r" b="b"/>
              <a:pathLst>
                <a:path w="489041" h="409905">
                  <a:moveTo>
                    <a:pt x="0" y="0"/>
                  </a:moveTo>
                  <a:lnTo>
                    <a:pt x="489041" y="0"/>
                  </a:lnTo>
                  <a:lnTo>
                    <a:pt x="489041" y="409905"/>
                  </a:lnTo>
                  <a:lnTo>
                    <a:pt x="0" y="409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=""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3" name="Rectangle 12"/>
          <p:cNvSpPr/>
          <p:nvPr/>
        </p:nvSpPr>
        <p:spPr>
          <a:xfrm>
            <a:off x="2514600" y="5981700"/>
            <a:ext cx="5334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2514600" y="6688372"/>
            <a:ext cx="533400" cy="4572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2514600" y="7395044"/>
            <a:ext cx="533400" cy="4572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514600" y="8101716"/>
            <a:ext cx="533400" cy="4572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4341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52600" y="678649"/>
            <a:ext cx="14861076" cy="2915372"/>
            <a:chOff x="-362851" y="-466735"/>
            <a:chExt cx="19814768" cy="3887163"/>
          </a:xfrm>
        </p:grpSpPr>
        <p:sp>
          <p:nvSpPr>
            <p:cNvPr id="3" name="AutoShape 3"/>
            <p:cNvSpPr/>
            <p:nvPr/>
          </p:nvSpPr>
          <p:spPr>
            <a:xfrm flipV="1">
              <a:off x="0" y="1422400"/>
              <a:ext cx="19451917" cy="0"/>
            </a:xfrm>
            <a:prstGeom prst="line">
              <a:avLst/>
            </a:prstGeom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66735"/>
              <a:ext cx="19451917" cy="16084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560"/>
                </a:lnSpc>
              </a:pPr>
              <a:r>
                <a:rPr lang="en-US" sz="6400" b="1" spc="64" dirty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Kết quả thực </a:t>
              </a:r>
              <a:r>
                <a:rPr lang="en-US" sz="6400" b="1" spc="64" dirty="0" smtClean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nghiệm</a:t>
              </a:r>
              <a:endParaRPr lang="en-US" sz="6400" b="1" spc="64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-362851" y="1604631"/>
              <a:ext cx="19178364" cy="18157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90881" lvl="1" indent="-345440" algn="just">
                <a:lnSpc>
                  <a:spcPts val="5600"/>
                </a:lnSpc>
                <a:buFont typeface="Arial"/>
                <a:buChar char="•"/>
              </a:pPr>
              <a:r>
                <a:rPr lang="vi-VN" sz="3600" b="1" dirty="0">
                  <a:latin typeface="Arial" panose="020B0604020202020204" pitchFamily="34" charset="0"/>
                  <a:cs typeface="Arial" panose="020B0604020202020204" pitchFamily="34" charset="0"/>
                </a:rPr>
                <a:t>Chức năng tương tác:</a:t>
              </a:r>
              <a:r>
                <a:rPr lang="vi-VN" sz="3600" dirty="0">
                  <a:latin typeface="Arial" panose="020B0604020202020204" pitchFamily="34" charset="0"/>
                  <a:cs typeface="Arial" panose="020B0604020202020204" pitchFamily="34" charset="0"/>
                </a:rPr>
                <a:t> Kéo thả điểm đầu/cuối, vẽ tường bằng chuột.</a:t>
              </a:r>
              <a:endParaRPr lang="en-US" sz="3600" u="none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9258300"/>
            <a:ext cx="18288000" cy="1028700"/>
            <a:chOff x="0" y="0"/>
            <a:chExt cx="4816593" cy="2709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4816593" cy="2995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164837" y="9589260"/>
            <a:ext cx="3094463" cy="366780"/>
            <a:chOff x="0" y="0"/>
            <a:chExt cx="4125951" cy="489041"/>
          </a:xfrm>
        </p:grpSpPr>
        <p:sp>
          <p:nvSpPr>
            <p:cNvPr id="10" name="TextBox 10"/>
            <p:cNvSpPr txBox="1"/>
            <p:nvPr/>
          </p:nvSpPr>
          <p:spPr>
            <a:xfrm>
              <a:off x="562691" y="3728"/>
              <a:ext cx="3563260" cy="4815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736"/>
                </a:lnSpc>
              </a:pPr>
              <a:r>
                <a:rPr lang="en-US" sz="2400" spc="48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Cô Nhân Quý</a:t>
              </a:r>
            </a:p>
          </p:txBody>
        </p:sp>
        <p:sp>
          <p:nvSpPr>
            <p:cNvPr id="11" name="Freeform 11"/>
            <p:cNvSpPr/>
            <p:nvPr/>
          </p:nvSpPr>
          <p:spPr>
            <a:xfrm rot="5400000">
              <a:off x="-39568" y="39568"/>
              <a:ext cx="489041" cy="409905"/>
            </a:xfrm>
            <a:custGeom>
              <a:avLst/>
              <a:gdLst/>
              <a:ahLst/>
              <a:cxnLst/>
              <a:rect l="l" t="t" r="r" b="b"/>
              <a:pathLst>
                <a:path w="489041" h="409905">
                  <a:moveTo>
                    <a:pt x="0" y="0"/>
                  </a:moveTo>
                  <a:lnTo>
                    <a:pt x="489041" y="0"/>
                  </a:lnTo>
                  <a:lnTo>
                    <a:pt x="489041" y="409905"/>
                  </a:lnTo>
                  <a:lnTo>
                    <a:pt x="0" y="409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=""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pic>
        <p:nvPicPr>
          <p:cNvPr id="12" name="Picture 11"/>
          <p:cNvPicPr/>
          <p:nvPr/>
        </p:nvPicPr>
        <p:blipFill rotWithShape="1">
          <a:blip r:embed="rId4"/>
          <a:srcRect l="40992" t="11172" r="26446" b="33850"/>
          <a:stretch/>
        </p:blipFill>
        <p:spPr bwMode="auto">
          <a:xfrm>
            <a:off x="2024738" y="3595420"/>
            <a:ext cx="6502288" cy="566287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3" name="Picture 12"/>
          <p:cNvPicPr/>
          <p:nvPr/>
        </p:nvPicPr>
        <p:blipFill rotWithShape="1">
          <a:blip r:embed="rId5"/>
          <a:srcRect l="41984" t="11172" r="27273" b="33849"/>
          <a:stretch/>
        </p:blipFill>
        <p:spPr bwMode="auto">
          <a:xfrm>
            <a:off x="10289270" y="3595420"/>
            <a:ext cx="6094660" cy="566008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33516" y="800100"/>
            <a:ext cx="7767484" cy="5165019"/>
            <a:chOff x="-1568703" y="-304800"/>
            <a:chExt cx="29787067" cy="6886690"/>
          </a:xfrm>
        </p:grpSpPr>
        <p:sp>
          <p:nvSpPr>
            <p:cNvPr id="3" name="AutoShape 3"/>
            <p:cNvSpPr/>
            <p:nvPr/>
          </p:nvSpPr>
          <p:spPr>
            <a:xfrm flipV="1">
              <a:off x="-3591" y="3352799"/>
              <a:ext cx="19451917" cy="0"/>
            </a:xfrm>
            <a:prstGeom prst="line">
              <a:avLst/>
            </a:prstGeom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04800"/>
              <a:ext cx="19451917" cy="16084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560"/>
                </a:lnSpc>
              </a:pPr>
              <a:r>
                <a:rPr lang="en-US" sz="6400" b="1" spc="64" dirty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Kết quả thực </a:t>
              </a:r>
              <a:r>
                <a:rPr lang="en-US" sz="6400" b="1" spc="64" dirty="0" smtClean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nghiệm</a:t>
              </a:r>
              <a:endParaRPr lang="en-US" sz="6400" b="1" spc="64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-1568703" y="3808567"/>
              <a:ext cx="29787067" cy="277332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690881" lvl="1" indent="-345440" algn="just">
                <a:lnSpc>
                  <a:spcPts val="5600"/>
                </a:lnSpc>
                <a:buFont typeface="Arial"/>
                <a:buChar char="•"/>
              </a:pPr>
              <a:r>
                <a:rPr lang="en-US" sz="3600" b="1" dirty="0">
                  <a:latin typeface="Arial" panose="020B0604020202020204" pitchFamily="34" charset="0"/>
                  <a:cs typeface="Arial" panose="020B0604020202020204" pitchFamily="34" charset="0"/>
                </a:rPr>
                <a:t>Chức năng nhập liệu:</a:t>
              </a:r>
              <a:r>
                <a:rPr lang="en-US" sz="3600" dirty="0">
                  <a:latin typeface="Arial" panose="020B0604020202020204" pitchFamily="34" charset="0"/>
                  <a:cs typeface="Arial" panose="020B0604020202020204" pitchFamily="34" charset="0"/>
                </a:rPr>
                <a:t> Hỗ trợ nhập Ma trận số (0/1) để tạo bản đồ nhanh.</a:t>
              </a:r>
              <a:endParaRPr lang="en-US" sz="3600" u="none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9258300"/>
            <a:ext cx="18288000" cy="1028700"/>
            <a:chOff x="0" y="0"/>
            <a:chExt cx="4816593" cy="2709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4816593" cy="2995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164837" y="9589260"/>
            <a:ext cx="3094463" cy="366780"/>
            <a:chOff x="0" y="0"/>
            <a:chExt cx="4125951" cy="489041"/>
          </a:xfrm>
        </p:grpSpPr>
        <p:sp>
          <p:nvSpPr>
            <p:cNvPr id="10" name="TextBox 10"/>
            <p:cNvSpPr txBox="1"/>
            <p:nvPr/>
          </p:nvSpPr>
          <p:spPr>
            <a:xfrm>
              <a:off x="562691" y="3728"/>
              <a:ext cx="3563260" cy="4815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736"/>
                </a:lnSpc>
              </a:pPr>
              <a:r>
                <a:rPr lang="en-US" sz="2400" spc="48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Cô Nhân Quý</a:t>
              </a:r>
            </a:p>
          </p:txBody>
        </p:sp>
        <p:sp>
          <p:nvSpPr>
            <p:cNvPr id="11" name="Freeform 11"/>
            <p:cNvSpPr/>
            <p:nvPr/>
          </p:nvSpPr>
          <p:spPr>
            <a:xfrm rot="5400000">
              <a:off x="-39568" y="39568"/>
              <a:ext cx="489041" cy="409905"/>
            </a:xfrm>
            <a:custGeom>
              <a:avLst/>
              <a:gdLst/>
              <a:ahLst/>
              <a:cxnLst/>
              <a:rect l="l" t="t" r="r" b="b"/>
              <a:pathLst>
                <a:path w="489041" h="409905">
                  <a:moveTo>
                    <a:pt x="0" y="0"/>
                  </a:moveTo>
                  <a:lnTo>
                    <a:pt x="489041" y="0"/>
                  </a:lnTo>
                  <a:lnTo>
                    <a:pt x="489041" y="409905"/>
                  </a:lnTo>
                  <a:lnTo>
                    <a:pt x="0" y="409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=""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013" y="5965119"/>
            <a:ext cx="9383144" cy="2665948"/>
          </a:xfrm>
          <a:prstGeom prst="rect">
            <a:avLst/>
          </a:prstGeom>
        </p:spPr>
      </p:pic>
      <p:pic>
        <p:nvPicPr>
          <p:cNvPr id="15" name="Picture 14"/>
          <p:cNvPicPr/>
          <p:nvPr/>
        </p:nvPicPr>
        <p:blipFill rotWithShape="1">
          <a:blip r:embed="rId5"/>
          <a:srcRect l="21653" t="4704" r="26612" b="2097"/>
          <a:stretch/>
        </p:blipFill>
        <p:spPr bwMode="auto">
          <a:xfrm>
            <a:off x="8763000" y="1"/>
            <a:ext cx="9067800" cy="925550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8536924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32473" y="808139"/>
            <a:ext cx="7767484" cy="3768226"/>
            <a:chOff x="-1568703" y="-304800"/>
            <a:chExt cx="29787067" cy="5024300"/>
          </a:xfrm>
        </p:grpSpPr>
        <p:sp>
          <p:nvSpPr>
            <p:cNvPr id="3" name="AutoShape 3"/>
            <p:cNvSpPr/>
            <p:nvPr/>
          </p:nvSpPr>
          <p:spPr>
            <a:xfrm flipV="1">
              <a:off x="-3591" y="3352799"/>
              <a:ext cx="19451917" cy="0"/>
            </a:xfrm>
            <a:prstGeom prst="line">
              <a:avLst/>
            </a:prstGeom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04800"/>
              <a:ext cx="19451917" cy="16084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560"/>
                </a:lnSpc>
              </a:pPr>
              <a:r>
                <a:rPr lang="en-US" sz="6400" b="1" spc="64" dirty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Kết quả thực </a:t>
              </a:r>
              <a:r>
                <a:rPr lang="en-US" sz="6400" b="1" spc="64" dirty="0" smtClean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nghiệm</a:t>
              </a:r>
              <a:endParaRPr lang="en-US" sz="6400" b="1" spc="64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-1568703" y="3808567"/>
              <a:ext cx="29787067" cy="91093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690881" lvl="1" indent="-345440" algn="just">
                <a:lnSpc>
                  <a:spcPts val="5600"/>
                </a:lnSpc>
                <a:buFont typeface="Arial"/>
                <a:buChar char="•"/>
              </a:pPr>
              <a:r>
                <a:rPr lang="en-US" sz="4400" b="1" dirty="0"/>
                <a:t>Chức </a:t>
              </a:r>
              <a:r>
                <a:rPr lang="en-US" sz="4400" b="1" dirty="0" smtClean="0"/>
                <a:t>năng chạy BFS</a:t>
              </a:r>
              <a:endParaRPr lang="en-US" sz="440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9258300"/>
            <a:ext cx="18288000" cy="1028700"/>
            <a:chOff x="0" y="0"/>
            <a:chExt cx="4816593" cy="2709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4816593" cy="2995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164837" y="9589260"/>
            <a:ext cx="3094463" cy="366780"/>
            <a:chOff x="0" y="0"/>
            <a:chExt cx="4125951" cy="489041"/>
          </a:xfrm>
        </p:grpSpPr>
        <p:sp>
          <p:nvSpPr>
            <p:cNvPr id="10" name="TextBox 10"/>
            <p:cNvSpPr txBox="1"/>
            <p:nvPr/>
          </p:nvSpPr>
          <p:spPr>
            <a:xfrm>
              <a:off x="562691" y="3728"/>
              <a:ext cx="3563260" cy="4815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736"/>
                </a:lnSpc>
              </a:pPr>
              <a:r>
                <a:rPr lang="en-US" sz="2400" spc="48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Cô Nhân Quý</a:t>
              </a:r>
            </a:p>
          </p:txBody>
        </p:sp>
        <p:sp>
          <p:nvSpPr>
            <p:cNvPr id="11" name="Freeform 11"/>
            <p:cNvSpPr/>
            <p:nvPr/>
          </p:nvSpPr>
          <p:spPr>
            <a:xfrm rot="5400000">
              <a:off x="-39568" y="39568"/>
              <a:ext cx="489041" cy="409905"/>
            </a:xfrm>
            <a:custGeom>
              <a:avLst/>
              <a:gdLst/>
              <a:ahLst/>
              <a:cxnLst/>
              <a:rect l="l" t="t" r="r" b="b"/>
              <a:pathLst>
                <a:path w="489041" h="409905">
                  <a:moveTo>
                    <a:pt x="0" y="0"/>
                  </a:moveTo>
                  <a:lnTo>
                    <a:pt x="489041" y="0"/>
                  </a:lnTo>
                  <a:lnTo>
                    <a:pt x="489041" y="409905"/>
                  </a:lnTo>
                  <a:lnTo>
                    <a:pt x="0" y="409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=""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4"/>
          <a:srcRect t="35120" r="52453" b="43580"/>
          <a:stretch/>
        </p:blipFill>
        <p:spPr>
          <a:xfrm>
            <a:off x="543430" y="4811209"/>
            <a:ext cx="6213543" cy="849013"/>
          </a:xfrm>
          <a:prstGeom prst="rect">
            <a:avLst/>
          </a:prstGeom>
        </p:spPr>
      </p:pic>
      <p:pic>
        <p:nvPicPr>
          <p:cNvPr id="16" name="Picture 15"/>
          <p:cNvPicPr/>
          <p:nvPr/>
        </p:nvPicPr>
        <p:blipFill rotWithShape="1">
          <a:blip r:embed="rId5"/>
          <a:srcRect l="21653" t="4410" r="25950" b="1803"/>
          <a:stretch/>
        </p:blipFill>
        <p:spPr bwMode="auto">
          <a:xfrm>
            <a:off x="8352661" y="2926"/>
            <a:ext cx="8926304" cy="925257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4"/>
          <a:srcRect l="56034" t="5325" r="10670" b="14800"/>
          <a:stretch/>
        </p:blipFill>
        <p:spPr>
          <a:xfrm>
            <a:off x="1680029" y="5761093"/>
            <a:ext cx="4493381" cy="328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7752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3000" y="571500"/>
            <a:ext cx="7767484" cy="3803171"/>
            <a:chOff x="-1568703" y="-304800"/>
            <a:chExt cx="29787067" cy="5070893"/>
          </a:xfrm>
        </p:grpSpPr>
        <p:sp>
          <p:nvSpPr>
            <p:cNvPr id="3" name="AutoShape 3"/>
            <p:cNvSpPr/>
            <p:nvPr/>
          </p:nvSpPr>
          <p:spPr>
            <a:xfrm flipV="1">
              <a:off x="-3591" y="3352799"/>
              <a:ext cx="19451917" cy="0"/>
            </a:xfrm>
            <a:prstGeom prst="line">
              <a:avLst/>
            </a:prstGeom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04800"/>
              <a:ext cx="19451917" cy="16084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560"/>
                </a:lnSpc>
              </a:pPr>
              <a:r>
                <a:rPr lang="en-US" sz="6400" b="1" spc="64" dirty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Kết quả thực </a:t>
              </a:r>
              <a:r>
                <a:rPr lang="en-US" sz="6400" b="1" spc="64" dirty="0" smtClean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nghiệm</a:t>
              </a:r>
              <a:endParaRPr lang="en-US" sz="6400" b="1" spc="64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-1568703" y="3808567"/>
              <a:ext cx="29787067" cy="95752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690881" lvl="1" indent="-345440" algn="just">
                <a:lnSpc>
                  <a:spcPts val="5600"/>
                </a:lnSpc>
                <a:buFont typeface="Arial"/>
                <a:buChar char="•"/>
              </a:pPr>
              <a:r>
                <a:rPr lang="en-US" sz="4400" b="1" dirty="0"/>
                <a:t>Chức </a:t>
              </a:r>
              <a:r>
                <a:rPr lang="en-US" sz="4400" b="1" dirty="0" smtClean="0"/>
                <a:t>năng chạy DFS</a:t>
              </a:r>
              <a:endParaRPr lang="en-US" sz="440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9258300"/>
            <a:ext cx="18288000" cy="1028700"/>
            <a:chOff x="0" y="0"/>
            <a:chExt cx="4816593" cy="2709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4816593" cy="2995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164837" y="9589260"/>
            <a:ext cx="3094463" cy="366780"/>
            <a:chOff x="0" y="0"/>
            <a:chExt cx="4125951" cy="489041"/>
          </a:xfrm>
        </p:grpSpPr>
        <p:sp>
          <p:nvSpPr>
            <p:cNvPr id="10" name="TextBox 10"/>
            <p:cNvSpPr txBox="1"/>
            <p:nvPr/>
          </p:nvSpPr>
          <p:spPr>
            <a:xfrm>
              <a:off x="562691" y="3728"/>
              <a:ext cx="3563260" cy="4815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736"/>
                </a:lnSpc>
              </a:pPr>
              <a:r>
                <a:rPr lang="en-US" sz="2400" spc="48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Cô Nhân Quý</a:t>
              </a:r>
            </a:p>
          </p:txBody>
        </p:sp>
        <p:sp>
          <p:nvSpPr>
            <p:cNvPr id="11" name="Freeform 11"/>
            <p:cNvSpPr/>
            <p:nvPr/>
          </p:nvSpPr>
          <p:spPr>
            <a:xfrm rot="5400000">
              <a:off x="-39568" y="39568"/>
              <a:ext cx="489041" cy="409905"/>
            </a:xfrm>
            <a:custGeom>
              <a:avLst/>
              <a:gdLst/>
              <a:ahLst/>
              <a:cxnLst/>
              <a:rect l="l" t="t" r="r" b="b"/>
              <a:pathLst>
                <a:path w="489041" h="409905">
                  <a:moveTo>
                    <a:pt x="0" y="0"/>
                  </a:moveTo>
                  <a:lnTo>
                    <a:pt x="489041" y="0"/>
                  </a:lnTo>
                  <a:lnTo>
                    <a:pt x="489041" y="409905"/>
                  </a:lnTo>
                  <a:lnTo>
                    <a:pt x="0" y="409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=""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4"/>
          <a:srcRect t="35120" r="52453" b="43580"/>
          <a:stretch/>
        </p:blipFill>
        <p:spPr>
          <a:xfrm>
            <a:off x="980567" y="4716496"/>
            <a:ext cx="6213543" cy="849013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4"/>
          <a:srcRect l="56034" t="5325" r="10670" b="14800"/>
          <a:stretch/>
        </p:blipFill>
        <p:spPr>
          <a:xfrm>
            <a:off x="1680029" y="5761093"/>
            <a:ext cx="4493381" cy="3287840"/>
          </a:xfrm>
          <a:prstGeom prst="rect">
            <a:avLst/>
          </a:prstGeom>
        </p:spPr>
      </p:pic>
      <p:pic>
        <p:nvPicPr>
          <p:cNvPr id="15" name="Picture 14"/>
          <p:cNvPicPr/>
          <p:nvPr/>
        </p:nvPicPr>
        <p:blipFill rotWithShape="1">
          <a:blip r:embed="rId5"/>
          <a:srcRect l="21322" t="3822" r="25785" b="4743"/>
          <a:stretch/>
        </p:blipFill>
        <p:spPr bwMode="auto">
          <a:xfrm>
            <a:off x="8534400" y="1"/>
            <a:ext cx="8305800" cy="925550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3550211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19200" y="537565"/>
            <a:ext cx="15849600" cy="3279156"/>
            <a:chOff x="-360758" y="-280720"/>
            <a:chExt cx="26537756" cy="4372207"/>
          </a:xfrm>
        </p:grpSpPr>
        <p:sp>
          <p:nvSpPr>
            <p:cNvPr id="3" name="AutoShape 3"/>
            <p:cNvSpPr/>
            <p:nvPr/>
          </p:nvSpPr>
          <p:spPr>
            <a:xfrm flipV="1">
              <a:off x="-2" y="1694926"/>
              <a:ext cx="19451917" cy="0"/>
            </a:xfrm>
            <a:prstGeom prst="line">
              <a:avLst/>
            </a:prstGeom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-1" y="-280720"/>
              <a:ext cx="19451917" cy="16084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560"/>
                </a:lnSpc>
              </a:pPr>
              <a:r>
                <a:rPr lang="en-US" sz="6400" b="1" spc="64" dirty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Kết quả thực </a:t>
              </a:r>
              <a:r>
                <a:rPr lang="en-US" sz="6400" b="1" spc="64" dirty="0" smtClean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nghiệm</a:t>
              </a:r>
              <a:endParaRPr lang="en-US" sz="6400" b="1" spc="64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-360758" y="2176433"/>
              <a:ext cx="26537756" cy="191505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690881" lvl="1" indent="-345440" algn="just">
                <a:lnSpc>
                  <a:spcPts val="5600"/>
                </a:lnSpc>
                <a:buFont typeface="Arial"/>
                <a:buChar char="•"/>
              </a:pPr>
              <a:r>
                <a:rPr lang="vi-VN" sz="3600" b="1" dirty="0"/>
                <a:t>Chế độ so sánh:</a:t>
              </a:r>
              <a:r>
                <a:rPr lang="vi-VN" sz="3600" dirty="0"/>
                <a:t> Chạy song song 2 lưới, thấy rõ BFS loang đều còn DFS đi đường vòng vèo.</a:t>
              </a:r>
              <a:endParaRPr lang="en-US" sz="360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9258300"/>
            <a:ext cx="18288000" cy="1028700"/>
            <a:chOff x="0" y="0"/>
            <a:chExt cx="4816593" cy="2709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4816593" cy="2995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164837" y="9589260"/>
            <a:ext cx="3094463" cy="366780"/>
            <a:chOff x="0" y="0"/>
            <a:chExt cx="4125951" cy="489041"/>
          </a:xfrm>
        </p:grpSpPr>
        <p:sp>
          <p:nvSpPr>
            <p:cNvPr id="10" name="TextBox 10"/>
            <p:cNvSpPr txBox="1"/>
            <p:nvPr/>
          </p:nvSpPr>
          <p:spPr>
            <a:xfrm>
              <a:off x="562691" y="3728"/>
              <a:ext cx="3563260" cy="4815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736"/>
                </a:lnSpc>
              </a:pPr>
              <a:r>
                <a:rPr lang="en-US" sz="2400" spc="48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Cô Nhân Quý</a:t>
              </a:r>
            </a:p>
          </p:txBody>
        </p:sp>
        <p:sp>
          <p:nvSpPr>
            <p:cNvPr id="11" name="Freeform 11"/>
            <p:cNvSpPr/>
            <p:nvPr/>
          </p:nvSpPr>
          <p:spPr>
            <a:xfrm rot="5400000">
              <a:off x="-39568" y="39568"/>
              <a:ext cx="489041" cy="409905"/>
            </a:xfrm>
            <a:custGeom>
              <a:avLst/>
              <a:gdLst/>
              <a:ahLst/>
              <a:cxnLst/>
              <a:rect l="l" t="t" r="r" b="b"/>
              <a:pathLst>
                <a:path w="489041" h="409905">
                  <a:moveTo>
                    <a:pt x="0" y="0"/>
                  </a:moveTo>
                  <a:lnTo>
                    <a:pt x="489041" y="0"/>
                  </a:lnTo>
                  <a:lnTo>
                    <a:pt x="489041" y="409905"/>
                  </a:lnTo>
                  <a:lnTo>
                    <a:pt x="0" y="409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=""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4"/>
          <a:srcRect l="4820" t="33144" r="52951" b="48218"/>
          <a:stretch/>
        </p:blipFill>
        <p:spPr>
          <a:xfrm>
            <a:off x="1904727" y="3925217"/>
            <a:ext cx="5034425" cy="67771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4"/>
          <a:srcRect l="57155" t="8741" r="10361" b="16708"/>
          <a:stretch/>
        </p:blipFill>
        <p:spPr>
          <a:xfrm>
            <a:off x="2285139" y="4978098"/>
            <a:ext cx="4372859" cy="3061002"/>
          </a:xfrm>
          <a:prstGeom prst="rect">
            <a:avLst/>
          </a:prstGeom>
        </p:spPr>
      </p:pic>
      <p:pic>
        <p:nvPicPr>
          <p:cNvPr id="17" name="Picture 16"/>
          <p:cNvPicPr/>
          <p:nvPr/>
        </p:nvPicPr>
        <p:blipFill rotWithShape="1">
          <a:blip r:embed="rId5"/>
          <a:srcRect l="26446" t="7938" r="12231" b="33849"/>
          <a:stretch/>
        </p:blipFill>
        <p:spPr bwMode="auto">
          <a:xfrm>
            <a:off x="7391400" y="3441290"/>
            <a:ext cx="10667997" cy="578840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1017455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49055" y="484146"/>
            <a:ext cx="15503555" cy="8487491"/>
            <a:chOff x="-4" y="-726073"/>
            <a:chExt cx="20671407" cy="11316655"/>
          </a:xfrm>
        </p:grpSpPr>
        <p:sp>
          <p:nvSpPr>
            <p:cNvPr id="3" name="AutoShape 3"/>
            <p:cNvSpPr/>
            <p:nvPr/>
          </p:nvSpPr>
          <p:spPr>
            <a:xfrm>
              <a:off x="-4" y="2539999"/>
              <a:ext cx="20519846" cy="0"/>
            </a:xfrm>
            <a:prstGeom prst="line">
              <a:avLst/>
            </a:prstGeom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51557" y="-726073"/>
              <a:ext cx="20519846" cy="30435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560"/>
                </a:lnSpc>
              </a:pPr>
              <a:r>
                <a:rPr lang="en-US" sz="6400" b="1" spc="64" dirty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Hiện thực hóa nghiên cứu</a:t>
              </a:r>
            </a:p>
            <a:p>
              <a:pPr>
                <a:lnSpc>
                  <a:spcPts val="7200"/>
                </a:lnSpc>
              </a:pPr>
              <a:r>
                <a:rPr lang="en-US" sz="4200" b="1" dirty="0" smtClean="0">
                  <a:latin typeface="Arial" panose="020B0604020202020204" pitchFamily="34" charset="0"/>
                  <a:cs typeface="Arial" panose="020B0604020202020204" pitchFamily="34" charset="0"/>
                  <a:sym typeface="Arial Bold"/>
                </a:rPr>
                <a:t>Nhận xét</a:t>
              </a:r>
              <a:endParaRPr lang="en-US" sz="4200" b="1" spc="42" dirty="0">
                <a:solidFill>
                  <a:srgbClr val="000000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03120" y="2930365"/>
              <a:ext cx="20216721" cy="766021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345441" lvl="1">
                <a:lnSpc>
                  <a:spcPts val="5600"/>
                </a:lnSpc>
              </a:pPr>
              <a:r>
                <a:rPr lang="en-US" sz="3600" dirty="0" smtClean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Ưu điểm</a:t>
              </a:r>
              <a:r>
                <a:rPr lang="vi-VN" sz="3600" dirty="0" smtClean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:</a:t>
              </a:r>
              <a:endParaRPr lang="en-US" sz="3600" dirty="0" smtClean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  <a:p>
              <a:pPr marL="802641" lvl="1" indent="-457200">
                <a:lnSpc>
                  <a:spcPts val="5600"/>
                </a:lnSpc>
                <a:buFont typeface="Arial" panose="020B0604020202020204" pitchFamily="34" charset="0"/>
                <a:buChar char="•"/>
              </a:pPr>
              <a:r>
                <a:rPr lang="vi-VN" sz="3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Giao diện trực quan, sinh động, dễ sử dụng</a:t>
              </a:r>
              <a:r>
                <a:rPr lang="vi-VN" sz="3600" dirty="0" smtClean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lang="en-US" sz="36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802641" lvl="1" indent="-457200">
                <a:lnSpc>
                  <a:spcPts val="5600"/>
                </a:lnSpc>
                <a:buFont typeface="Arial" panose="020B0604020202020204" pitchFamily="34" charset="0"/>
                <a:buChar char="•"/>
              </a:pPr>
              <a:r>
                <a:rPr lang="vi-VN" sz="3600" dirty="0" smtClean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Chạy </a:t>
              </a:r>
              <a:r>
                <a:rPr lang="vi-VN" sz="3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ổn định trên Desktop nhờ ElectronJS</a:t>
              </a:r>
              <a:r>
                <a:rPr lang="vi-VN" sz="3600" dirty="0" smtClean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lang="en-US" sz="36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802641" lvl="1" indent="-457200">
                <a:lnSpc>
                  <a:spcPts val="5600"/>
                </a:lnSpc>
                <a:buFont typeface="Arial" panose="020B0604020202020204" pitchFamily="34" charset="0"/>
                <a:buChar char="•"/>
              </a:pPr>
              <a:r>
                <a:rPr lang="vi-VN" sz="3600" dirty="0" smtClean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Giúp </a:t>
              </a:r>
              <a:r>
                <a:rPr lang="vi-VN" sz="3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hiểu rõ bản chất "Lan rộng" (BFS) vs "Đi sâu" (DFS</a:t>
              </a:r>
              <a:r>
                <a:rPr lang="vi-VN" sz="3600" dirty="0" smtClean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).</a:t>
              </a:r>
              <a:endParaRPr lang="en-US" sz="36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802641" lvl="1" indent="-457200">
                <a:lnSpc>
                  <a:spcPts val="5600"/>
                </a:lnSpc>
                <a:buFont typeface="Arial" panose="020B0604020202020204" pitchFamily="34" charset="0"/>
                <a:buChar char="•"/>
              </a:pPr>
              <a:endParaRPr lang="en-US" sz="36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345441" lvl="1">
                <a:lnSpc>
                  <a:spcPts val="5600"/>
                </a:lnSpc>
              </a:pPr>
              <a:r>
                <a:rPr lang="en-US" sz="3600" b="1" dirty="0" smtClean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Hạn chế</a:t>
              </a:r>
              <a:r>
                <a:rPr lang="vi-VN" sz="3600" b="1" dirty="0" smtClean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:</a:t>
              </a:r>
              <a:endParaRPr lang="en-US" sz="3600" b="1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802641" lvl="1" indent="-457200">
                <a:lnSpc>
                  <a:spcPts val="5600"/>
                </a:lnSpc>
                <a:buFont typeface="Arial" panose="020B0604020202020204" pitchFamily="34" charset="0"/>
                <a:buChar char="•"/>
              </a:pPr>
              <a:r>
                <a:rPr lang="vi-VN" sz="3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Chưa hỗ trợ đồ thị có trọng số (như Dijkstra</a:t>
              </a:r>
              <a:r>
                <a:rPr lang="vi-VN" sz="3600" dirty="0" smtClean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).</a:t>
              </a:r>
              <a:endParaRPr lang="en-US" sz="36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802641" lvl="1" indent="-457200">
                <a:lnSpc>
                  <a:spcPts val="5600"/>
                </a:lnSpc>
                <a:buFont typeface="Arial" panose="020B0604020202020204" pitchFamily="34" charset="0"/>
                <a:buChar char="•"/>
              </a:pPr>
              <a:r>
                <a:rPr lang="vi-VN" sz="3600" dirty="0" smtClean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Hiệu </a:t>
              </a:r>
              <a:r>
                <a:rPr lang="vi-VN" sz="3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năng giảm nếu lưới quá lớn (&gt;50x50).</a:t>
              </a:r>
              <a:endParaRPr lang="en-US" sz="3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9258300"/>
            <a:ext cx="18288000" cy="1028700"/>
            <a:chOff x="0" y="0"/>
            <a:chExt cx="4816593" cy="2709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4816593" cy="2995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164837" y="9589260"/>
            <a:ext cx="3094463" cy="366780"/>
            <a:chOff x="0" y="0"/>
            <a:chExt cx="4125951" cy="489041"/>
          </a:xfrm>
        </p:grpSpPr>
        <p:sp>
          <p:nvSpPr>
            <p:cNvPr id="10" name="TextBox 10"/>
            <p:cNvSpPr txBox="1"/>
            <p:nvPr/>
          </p:nvSpPr>
          <p:spPr>
            <a:xfrm>
              <a:off x="562691" y="3728"/>
              <a:ext cx="3563260" cy="4815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736"/>
                </a:lnSpc>
              </a:pPr>
              <a:r>
                <a:rPr lang="en-US" sz="2400" spc="48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Cô Nhân Quý</a:t>
              </a:r>
            </a:p>
          </p:txBody>
        </p:sp>
        <p:sp>
          <p:nvSpPr>
            <p:cNvPr id="11" name="Freeform 11"/>
            <p:cNvSpPr/>
            <p:nvPr/>
          </p:nvSpPr>
          <p:spPr>
            <a:xfrm rot="5400000">
              <a:off x="-39568" y="39568"/>
              <a:ext cx="489041" cy="409905"/>
            </a:xfrm>
            <a:custGeom>
              <a:avLst/>
              <a:gdLst/>
              <a:ahLst/>
              <a:cxnLst/>
              <a:rect l="l" t="t" r="r" b="b"/>
              <a:pathLst>
                <a:path w="489041" h="409905">
                  <a:moveTo>
                    <a:pt x="0" y="0"/>
                  </a:moveTo>
                  <a:lnTo>
                    <a:pt x="489041" y="0"/>
                  </a:lnTo>
                  <a:lnTo>
                    <a:pt x="489041" y="409905"/>
                  </a:lnTo>
                  <a:lnTo>
                    <a:pt x="0" y="409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=""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10644034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049768" y="800100"/>
            <a:ext cx="14588938" cy="7638224"/>
            <a:chOff x="0" y="-304800"/>
            <a:chExt cx="19451917" cy="10184298"/>
          </a:xfrm>
        </p:grpSpPr>
        <p:sp>
          <p:nvSpPr>
            <p:cNvPr id="3" name="AutoShape 3"/>
            <p:cNvSpPr/>
            <p:nvPr/>
          </p:nvSpPr>
          <p:spPr>
            <a:xfrm flipV="1">
              <a:off x="0" y="1828800"/>
              <a:ext cx="19451917" cy="0"/>
            </a:xfrm>
            <a:prstGeom prst="line">
              <a:avLst/>
            </a:prstGeom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04800"/>
              <a:ext cx="19451917" cy="1608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560"/>
                </a:lnSpc>
              </a:pPr>
              <a:r>
                <a:rPr lang="en-US" sz="6400" b="1" spc="64" dirty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Kết luận và hướng phát </a:t>
              </a:r>
              <a:r>
                <a:rPr lang="en-US" sz="6400" b="1" spc="64" dirty="0" smtClean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triển</a:t>
              </a:r>
              <a:endParaRPr lang="en-US" sz="6400" b="1" spc="64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219281"/>
              <a:ext cx="19178364" cy="76602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5600"/>
                </a:lnSpc>
              </a:pPr>
              <a:r>
                <a:rPr lang="vi-VN" sz="3600" b="1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Kết luận: </a:t>
              </a:r>
              <a:endParaRPr lang="en-US" sz="3600" b="1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algn="just">
                <a:lnSpc>
                  <a:spcPts val="5600"/>
                </a:lnSpc>
              </a:pPr>
              <a:r>
                <a:rPr lang="vi-VN" sz="3600" dirty="0" smtClean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Đồ </a:t>
              </a:r>
              <a:r>
                <a:rPr lang="vi-VN" sz="3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án đã hoàn thành mục tiêu xây dựng công cụ hỗ trợ học tập môn Lý thuyết đồ thị và Cấu trúc dữ liệu</a:t>
              </a:r>
              <a:r>
                <a:rPr lang="vi-VN" sz="3600" dirty="0" smtClean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lang="en-US" sz="36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algn="just">
                <a:lnSpc>
                  <a:spcPts val="5600"/>
                </a:lnSpc>
              </a:pPr>
              <a:endParaRPr lang="en-US" sz="36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algn="just">
                <a:lnSpc>
                  <a:spcPts val="5600"/>
                </a:lnSpc>
              </a:pPr>
              <a:r>
                <a:rPr lang="vi-VN" sz="3600" b="1" dirty="0" smtClean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Hướng </a:t>
              </a:r>
              <a:r>
                <a:rPr lang="vi-VN" sz="3600" b="1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phát triển</a:t>
              </a:r>
              <a:r>
                <a:rPr lang="vi-VN" sz="3600" b="1" dirty="0" smtClean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:</a:t>
              </a:r>
              <a:endParaRPr lang="en-US" sz="3600" b="1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indent="-457200" algn="just">
                <a:lnSpc>
                  <a:spcPts val="5600"/>
                </a:lnSpc>
                <a:buFont typeface="Arial" panose="020B0604020202020204" pitchFamily="34" charset="0"/>
                <a:buChar char="•"/>
              </a:pPr>
              <a:r>
                <a:rPr lang="vi-VN" sz="3600" dirty="0" smtClean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Tích </a:t>
              </a:r>
              <a:r>
                <a:rPr lang="vi-VN" sz="3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hợp thêm thuật toán Dijkstra, A</a:t>
              </a:r>
              <a:r>
                <a:rPr lang="vi-VN" sz="3600" dirty="0" smtClean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*.</a:t>
              </a:r>
              <a:endParaRPr lang="en-US" sz="36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indent="-457200" algn="just">
                <a:lnSpc>
                  <a:spcPts val="5600"/>
                </a:lnSpc>
                <a:buFont typeface="Arial" panose="020B0604020202020204" pitchFamily="34" charset="0"/>
                <a:buChar char="•"/>
              </a:pPr>
              <a:r>
                <a:rPr lang="vi-VN" sz="3600" dirty="0" smtClean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Thêm </a:t>
              </a:r>
              <a:r>
                <a:rPr lang="vi-VN" sz="3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tính năng lưu/xuất kết quả ra file</a:t>
              </a:r>
              <a:r>
                <a:rPr lang="vi-VN" sz="3600" dirty="0" smtClean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lang="en-US" sz="36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indent="-457200" algn="just">
                <a:lnSpc>
                  <a:spcPts val="5600"/>
                </a:lnSpc>
                <a:buFont typeface="Arial" panose="020B0604020202020204" pitchFamily="34" charset="0"/>
                <a:buChar char="•"/>
              </a:pPr>
              <a:r>
                <a:rPr lang="vi-VN" sz="3600" dirty="0" smtClean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Phát </a:t>
              </a:r>
              <a:r>
                <a:rPr lang="vi-VN" sz="3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triển phiên bản Web trực tuyến.</a:t>
              </a:r>
              <a:endParaRPr lang="en-US" sz="360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9258300"/>
            <a:ext cx="18288000" cy="1028700"/>
            <a:chOff x="0" y="0"/>
            <a:chExt cx="4816593" cy="2709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4816593" cy="2995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164837" y="9589260"/>
            <a:ext cx="3094463" cy="366780"/>
            <a:chOff x="0" y="0"/>
            <a:chExt cx="4125951" cy="489041"/>
          </a:xfrm>
        </p:grpSpPr>
        <p:sp>
          <p:nvSpPr>
            <p:cNvPr id="10" name="TextBox 10"/>
            <p:cNvSpPr txBox="1"/>
            <p:nvPr/>
          </p:nvSpPr>
          <p:spPr>
            <a:xfrm>
              <a:off x="562691" y="3728"/>
              <a:ext cx="3563260" cy="4815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736"/>
                </a:lnSpc>
              </a:pPr>
              <a:r>
                <a:rPr lang="en-US" sz="2400" spc="48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Cô Nhân Quý</a:t>
              </a:r>
            </a:p>
          </p:txBody>
        </p:sp>
        <p:sp>
          <p:nvSpPr>
            <p:cNvPr id="11" name="Freeform 11"/>
            <p:cNvSpPr/>
            <p:nvPr/>
          </p:nvSpPr>
          <p:spPr>
            <a:xfrm rot="5400000">
              <a:off x="-39568" y="39568"/>
              <a:ext cx="489041" cy="409905"/>
            </a:xfrm>
            <a:custGeom>
              <a:avLst/>
              <a:gdLst/>
              <a:ahLst/>
              <a:cxnLst/>
              <a:rect l="l" t="t" r="r" b="b"/>
              <a:pathLst>
                <a:path w="489041" h="409905">
                  <a:moveTo>
                    <a:pt x="0" y="0"/>
                  </a:moveTo>
                  <a:lnTo>
                    <a:pt x="489041" y="0"/>
                  </a:lnTo>
                  <a:lnTo>
                    <a:pt x="489041" y="409905"/>
                  </a:lnTo>
                  <a:lnTo>
                    <a:pt x="0" y="409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=""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258300"/>
            <a:ext cx="18288000" cy="1028700"/>
            <a:chOff x="0" y="0"/>
            <a:chExt cx="4816593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16593" cy="2995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834949" y="3511539"/>
            <a:ext cx="9002439" cy="2147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515"/>
              </a:lnSpc>
            </a:pPr>
            <a:r>
              <a:rPr lang="en-US" sz="6500" b="1" spc="65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CẢM ƠN THẦY CÔ VÀ CÁC BẠN ĐÃ XEM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4164837" y="9589260"/>
            <a:ext cx="3094463" cy="366780"/>
            <a:chOff x="0" y="0"/>
            <a:chExt cx="4125951" cy="489041"/>
          </a:xfrm>
        </p:grpSpPr>
        <p:sp>
          <p:nvSpPr>
            <p:cNvPr id="7" name="TextBox 7"/>
            <p:cNvSpPr txBox="1"/>
            <p:nvPr/>
          </p:nvSpPr>
          <p:spPr>
            <a:xfrm>
              <a:off x="562691" y="66593"/>
              <a:ext cx="3563260" cy="3653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165"/>
                </a:lnSpc>
              </a:pPr>
              <a:r>
                <a:rPr lang="en-US" sz="1899" b="1" spc="37">
                  <a:solidFill>
                    <a:srgbClr val="FFFFFF"/>
                  </a:solidFill>
                  <a:latin typeface="Muli Bold"/>
                  <a:ea typeface="Muli Bold"/>
                  <a:cs typeface="Muli Bold"/>
                  <a:sym typeface="Muli Bold"/>
                </a:rPr>
                <a:t>LIÊM</a:t>
              </a:r>
            </a:p>
          </p:txBody>
        </p:sp>
        <p:sp>
          <p:nvSpPr>
            <p:cNvPr id="8" name="Freeform 8"/>
            <p:cNvSpPr/>
            <p:nvPr/>
          </p:nvSpPr>
          <p:spPr>
            <a:xfrm rot="5400000">
              <a:off x="-39568" y="39568"/>
              <a:ext cx="489041" cy="409905"/>
            </a:xfrm>
            <a:custGeom>
              <a:avLst/>
              <a:gdLst/>
              <a:ahLst/>
              <a:cxnLst/>
              <a:rect l="l" t="t" r="r" b="b"/>
              <a:pathLst>
                <a:path w="489041" h="409905">
                  <a:moveTo>
                    <a:pt x="0" y="0"/>
                  </a:moveTo>
                  <a:lnTo>
                    <a:pt x="489041" y="0"/>
                  </a:lnTo>
                  <a:lnTo>
                    <a:pt x="489041" y="409905"/>
                  </a:lnTo>
                  <a:lnTo>
                    <a:pt x="0" y="409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=""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910</Words>
  <Application>Microsoft Office PowerPoint</Application>
  <PresentationFormat>Custom</PresentationFormat>
  <Paragraphs>127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Muli Bold</vt:lpstr>
      <vt:lpstr>Arial</vt:lpstr>
      <vt:lpstr>Muli</vt:lpstr>
      <vt:lpstr>Arial Bold</vt:lpstr>
      <vt:lpstr>Asap</vt:lpstr>
      <vt:lpstr>Wingdings</vt:lpstr>
      <vt:lpstr>Calibri</vt:lpstr>
      <vt:lpstr>Asap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Đề xuất dự án Bài thuyết trình doanh nghiệp theo Phong cách Tối Đơn giản Đen Trắng</dc:title>
  <cp:lastModifiedBy>Dell</cp:lastModifiedBy>
  <cp:revision>10</cp:revision>
  <dcterms:created xsi:type="dcterms:W3CDTF">2006-08-16T00:00:00Z</dcterms:created>
  <dcterms:modified xsi:type="dcterms:W3CDTF">2026-01-06T14:14:54Z</dcterms:modified>
  <dc:identifier>DAG6bikShHc</dc:identifier>
</cp:coreProperties>
</file>